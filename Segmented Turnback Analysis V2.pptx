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807" r:id="rId2"/>
    <p:sldId id="808" r:id="rId3"/>
    <p:sldId id="810" r:id="rId4"/>
    <p:sldId id="811" r:id="rId5"/>
    <p:sldId id="814" r:id="rId6"/>
    <p:sldId id="815" r:id="rId7"/>
    <p:sldId id="816" r:id="rId8"/>
    <p:sldId id="819" r:id="rId9"/>
    <p:sldId id="820" r:id="rId10"/>
    <p:sldId id="821" r:id="rId11"/>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50" autoAdjust="0"/>
    <p:restoredTop sz="94660"/>
  </p:normalViewPr>
  <p:slideViewPr>
    <p:cSldViewPr snapToGrid="0">
      <p:cViewPr>
        <p:scale>
          <a:sx n="70" d="100"/>
          <a:sy n="70" d="100"/>
        </p:scale>
        <p:origin x="380"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FDE4E781-5783-4E9D-997D-3C9D35DA1F62}" type="datetimeFigureOut">
              <a:rPr lang="en-US" smtClean="0"/>
              <a:t>2/12/2025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11B79938-7E51-47F3-9FF3-98B64E81B917}" type="slidenum">
              <a:rPr lang="en-US" smtClean="0"/>
              <a:t>‹#›</a:t>
            </a:fld>
            <a:endParaRPr lang="en-US"/>
          </a:p>
        </p:txBody>
      </p:sp>
    </p:spTree>
    <p:extLst>
      <p:ext uri="{BB962C8B-B14F-4D97-AF65-F5344CB8AC3E}">
        <p14:creationId xmlns:p14="http://schemas.microsoft.com/office/powerpoint/2010/main" val="29604290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1</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069003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2</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3681667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3</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2045992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4</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657226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5</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4011373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6</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2010337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7</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615316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8</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35446117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9</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1478742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7EB3B-E01B-AA58-2F69-1700E9ADDD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3F60E-941A-6CEB-3C11-AA40AA2AB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55F5B-58C1-A92F-B748-A9FE0361705A}"/>
              </a:ext>
            </a:extLst>
          </p:cNvPr>
          <p:cNvSpPr>
            <a:spLocks noGrp="1"/>
          </p:cNvSpPr>
          <p:nvPr>
            <p:ph type="body" idx="1"/>
          </p:nvPr>
        </p:nvSpPr>
        <p:spPr/>
        <p:txBody>
          <a:bodyPr/>
          <a:lstStyle/>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If you then ask the question, </a:t>
            </a:r>
            <a:r>
              <a:rPr lang="en-US" sz="1600" b="1" dirty="0">
                <a:latin typeface="Calibri" panose="020F0502020204030204" pitchFamily="34" charset="0"/>
                <a:ea typeface="Calibri" panose="020F0502020204030204" pitchFamily="34" charset="0"/>
                <a:cs typeface="Times New Roman" panose="02020603050405020304" pitchFamily="18" charset="0"/>
              </a:rPr>
              <a:t>how many of these turnback parts primarily depend on the design of the plane</a:t>
            </a:r>
            <a:r>
              <a:rPr lang="en-US" sz="1600" dirty="0">
                <a:latin typeface="Calibri" panose="020F0502020204030204" pitchFamily="34" charset="0"/>
                <a:ea typeface="Calibri" panose="020F0502020204030204" pitchFamily="34" charset="0"/>
                <a:cs typeface="Times New Roman" panose="02020603050405020304" pitchFamily="18" charset="0"/>
              </a:rPr>
              <a:t>, you can see that quite a few do.</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best climb angle, the best glide angle, the ground roll, and the least altitude lost in even the best-flown turn all depend on the plane.</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r>
              <a:rPr lang="en-US" sz="1600" dirty="0">
                <a:latin typeface="Calibri" panose="020F0502020204030204" pitchFamily="34" charset="0"/>
                <a:ea typeface="Calibri" panose="020F0502020204030204" pitchFamily="34" charset="0"/>
                <a:cs typeface="Times New Roman" panose="02020603050405020304" pitchFamily="18" charset="0"/>
              </a:rPr>
              <a:t>The rest depends on how the pilot flies the maneuver and how repeatable they can do it.</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r>
              <a:rPr lang="en-US" sz="1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1 slide </a:t>
            </a:r>
            <a:r>
              <a:rPr lang="en-US" sz="1600" dirty="0">
                <a:latin typeface="Calibri" panose="020F0502020204030204" pitchFamily="34" charset="0"/>
                <a:ea typeface="Calibri" panose="020F0502020204030204" pitchFamily="34" charset="0"/>
                <a:cs typeface="Times New Roman" panose="02020603050405020304" pitchFamily="18" charset="0"/>
              </a:rPr>
              <a:t>– Return Distance and Variability of the 34 planes</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03446" indent="-303446">
              <a:lnSpc>
                <a:spcPct val="107000"/>
              </a:lnSpc>
              <a:spcAft>
                <a:spcPts val="849"/>
              </a:spcAft>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Surveyed over 1000 pilots – only 3% said that they could not make it back.  97% think that they could make it back to a 4000 ft runway from 600 to 800 feet.</a:t>
            </a: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indent="242757">
              <a:lnSpc>
                <a:spcPct val="107000"/>
              </a:lnSpc>
              <a:spcAft>
                <a:spcPts val="849"/>
              </a:spcAft>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We asked pilots across the US to record their own plane.  We have flight recordings of over 30 types of planes with 150 attempts.</a:t>
            </a: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a:t>
            </a:r>
            <a:r>
              <a:rPr lang="en-US" sz="1600" b="1" dirty="0">
                <a:latin typeface="Calibri" panose="020F0502020204030204" pitchFamily="34" charset="0"/>
                <a:ea typeface="Calibri" panose="020F0502020204030204" pitchFamily="34" charset="0"/>
                <a:cs typeface="Times New Roman" panose="02020603050405020304" pitchFamily="18" charset="0"/>
              </a:rPr>
              <a:t>differences between planes – Some never make it, some always, some in between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788961" lvl="1" indent="-303446">
              <a:lnSpc>
                <a:spcPct val="107000"/>
              </a:lnSpc>
              <a:buFont typeface="Courier New" panose="02070309020205020404" pitchFamily="49" charset="0"/>
              <a:buChar char="o"/>
            </a:pPr>
            <a:r>
              <a:rPr lang="en-US" sz="1600" dirty="0">
                <a:latin typeface="Calibri" panose="020F0502020204030204" pitchFamily="34" charset="0"/>
                <a:ea typeface="Calibri" panose="020F0502020204030204" pitchFamily="34" charset="0"/>
                <a:cs typeface="Times New Roman" panose="02020603050405020304" pitchFamily="18" charset="0"/>
              </a:rPr>
              <a:t>Big v</a:t>
            </a:r>
            <a:r>
              <a:rPr lang="en-US" sz="1600" b="1" dirty="0">
                <a:latin typeface="Calibri" panose="020F0502020204030204" pitchFamily="34" charset="0"/>
                <a:ea typeface="Calibri" panose="020F0502020204030204" pitchFamily="34" charset="0"/>
                <a:cs typeface="Times New Roman" panose="02020603050405020304" pitchFamily="18" charset="0"/>
              </a:rPr>
              <a:t>ariability</a:t>
            </a:r>
            <a:r>
              <a:rPr lang="en-US" sz="1600" dirty="0">
                <a:latin typeface="Calibri" panose="020F0502020204030204" pitchFamily="34" charset="0"/>
                <a:ea typeface="Calibri" panose="020F0502020204030204" pitchFamily="34" charset="0"/>
                <a:cs typeface="Times New Roman" panose="02020603050405020304" pitchFamily="18" charset="0"/>
              </a:rPr>
              <a:t> in almost every pilot’s set of attempts.  Without training you are probably just not precise enough predict what you next attempt will look like.</a:t>
            </a:r>
          </a:p>
          <a:p>
            <a:pPr marL="364135" indent="-364135">
              <a:lnSpc>
                <a:spcPct val="107000"/>
              </a:lnSpc>
              <a:buFont typeface="Symbol" panose="05050102010706020507" pitchFamily="18"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Three lessons learned</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 Plane</a:t>
            </a:r>
            <a:r>
              <a:rPr lang="en-US" sz="1600" dirty="0">
                <a:latin typeface="Calibri" panose="020F0502020204030204" pitchFamily="34" charset="0"/>
                <a:ea typeface="Calibri" panose="020F0502020204030204" pitchFamily="34" charset="0"/>
                <a:cs typeface="Times New Roman" panose="02020603050405020304" pitchFamily="18" charset="0"/>
              </a:rPr>
              <a:t> – Many planes struggle to make it, many make it easily. Unless you know your plane is capable of making it back (through our test protocol), don’t try it</a:t>
            </a:r>
          </a:p>
          <a:p>
            <a:pPr marL="788961" lvl="1" indent="-303446">
              <a:lnSpc>
                <a:spcPct val="107000"/>
              </a:lnSpc>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Know Yourself</a:t>
            </a:r>
            <a:r>
              <a:rPr lang="en-US" sz="1600" dirty="0">
                <a:latin typeface="Calibri" panose="020F0502020204030204" pitchFamily="34" charset="0"/>
                <a:ea typeface="Calibri" panose="020F0502020204030204" pitchFamily="34" charset="0"/>
                <a:cs typeface="Times New Roman" panose="02020603050405020304" pitchFamily="18" charset="0"/>
              </a:rPr>
              <a:t> – Proficiency.  Unless you have been trained to do the maneuver and are proficient with it, the odds of you performing the turnback in an emergency are against you.  </a:t>
            </a:r>
          </a:p>
          <a:p>
            <a:pPr marL="1213787" lvl="2" indent="-242757">
              <a:lnSpc>
                <a:spcPct val="107000"/>
              </a:lnSpc>
              <a:buFont typeface="Wingdings" panose="05000000000000000000" pitchFamily="2" charset="2"/>
              <a:buChar char=""/>
            </a:pPr>
            <a:r>
              <a:rPr lang="en-US" sz="1600" dirty="0">
                <a:latin typeface="Calibri" panose="020F0502020204030204" pitchFamily="34" charset="0"/>
                <a:ea typeface="Calibri" panose="020F0502020204030204" pitchFamily="34" charset="0"/>
                <a:cs typeface="Times New Roman" panose="02020603050405020304" pitchFamily="18" charset="0"/>
              </a:rPr>
              <a:t>Aside:  There are many videos of highly trained pilots in high performance planes showing you how you can do it.  Ask yourself:  do I have that type of plane?  Am I as proficient as that pilot? </a:t>
            </a:r>
          </a:p>
          <a:p>
            <a:pPr marL="788961" lvl="1" indent="-303446">
              <a:lnSpc>
                <a:spcPct val="107000"/>
              </a:lnSpc>
              <a:spcAft>
                <a:spcPts val="849"/>
              </a:spcAft>
              <a:buFont typeface="Courier New" panose="02070309020205020404" pitchFamily="49" charset="0"/>
              <a:buChar char="o"/>
            </a:pPr>
            <a:r>
              <a:rPr lang="en-US" sz="1600" b="1" dirty="0">
                <a:latin typeface="Calibri" panose="020F0502020204030204" pitchFamily="34" charset="0"/>
                <a:ea typeface="Calibri" panose="020F0502020204030204" pitchFamily="34" charset="0"/>
                <a:cs typeface="Times New Roman" panose="02020603050405020304" pitchFamily="18" charset="0"/>
              </a:rPr>
              <a:t>Plan Ahead</a:t>
            </a:r>
            <a:r>
              <a:rPr lang="en-US" sz="1600" dirty="0">
                <a:latin typeface="Calibri" panose="020F0502020204030204" pitchFamily="34" charset="0"/>
                <a:ea typeface="Calibri" panose="020F0502020204030204" pitchFamily="34" charset="0"/>
                <a:cs typeface="Times New Roman" panose="02020603050405020304" pitchFamily="18" charset="0"/>
              </a:rPr>
              <a:t> – The time to decide where you are going to point the plane is before you take off – startle time must be low</a:t>
            </a:r>
          </a:p>
          <a:p>
            <a:pPr>
              <a:lnSpc>
                <a:spcPct val="107000"/>
              </a:lnSpc>
            </a:pPr>
            <a:endParaRPr lang="en-US" sz="1600" dirty="0">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8F471144-EC57-617C-1D76-BA1B06E51830}"/>
              </a:ext>
            </a:extLst>
          </p:cNvPr>
          <p:cNvSpPr>
            <a:spLocks noGrp="1"/>
          </p:cNvSpPr>
          <p:nvPr>
            <p:ph type="sldNum" sz="quarter" idx="5"/>
          </p:nvPr>
        </p:nvSpPr>
        <p:spPr/>
        <p:txBody>
          <a:bodyPr/>
          <a:lstStyle/>
          <a:p>
            <a:pPr defTabSz="471145">
              <a:defRPr/>
            </a:pPr>
            <a:fld id="{2F41AE8C-B1F8-442C-A21D-922954F740BD}" type="slidenum">
              <a:rPr lang="en-US">
                <a:solidFill>
                  <a:prstClr val="black"/>
                </a:solidFill>
                <a:latin typeface="Calibri" panose="020F0502020204030204"/>
              </a:rPr>
              <a:pPr defTabSz="471145">
                <a:defRPr/>
              </a:pPr>
              <a:t>10</a:t>
            </a:fld>
            <a:endParaRPr lang="en-US" dirty="0">
              <a:solidFill>
                <a:prstClr val="black"/>
              </a:solidFill>
              <a:latin typeface="Calibri" panose="020F0502020204030204"/>
            </a:endParaRPr>
          </a:p>
        </p:txBody>
      </p:sp>
    </p:spTree>
    <p:extLst>
      <p:ext uri="{BB962C8B-B14F-4D97-AF65-F5344CB8AC3E}">
        <p14:creationId xmlns:p14="http://schemas.microsoft.com/office/powerpoint/2010/main" val="3541011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323684-F5AF-4BF2-99D7-D4AF0D121248}" type="datetime1">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508171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6D0E41-2AE4-48B2-B4ED-2130A5313D3B}" type="datetime1">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334171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F633D7-13FB-4893-AE3B-C78A029AF37C}" type="datetime1">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4178074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A71ECB-E5F7-4733-8A7C-C79343641917}" type="datetime1">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1866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1C61F0-09EC-4448-B46A-5A725559A4D4}" type="datetime1">
              <a:rPr lang="en-US" smtClean="0"/>
              <a:t>2/12/2025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2452156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74B1BB-FDA8-4A94-8304-A9218F938355}" type="datetime1">
              <a:rPr lang="en-US" smtClean="0"/>
              <a:t>2/12/2025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3140272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E68287-775C-4865-A912-39B1309043CD}" type="datetime1">
              <a:rPr lang="en-US" smtClean="0"/>
              <a:t>2/12/2025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1622472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435D16-D348-40C6-80CD-027D1B1E04F7}" type="datetime1">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4045961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44760E-12D9-40A0-BC38-3E965AD91D8B}" type="datetime1">
              <a:rPr lang="en-US" smtClean="0"/>
              <a:t>2/12/2025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3112879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20BA48-834B-40D5-B4A2-75A12634DB2E}" type="datetime1">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2366301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6F4A52-6EFE-44CA-8B8D-5E4D9F088E67}" type="datetime1">
              <a:rPr lang="en-US" smtClean="0"/>
              <a:t>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8E525B-DD2D-461C-89B3-D4D2A69E671A}" type="slidenum">
              <a:rPr lang="en-US" smtClean="0"/>
              <a:t>‹#›</a:t>
            </a:fld>
            <a:endParaRPr lang="en-US"/>
          </a:p>
        </p:txBody>
      </p:sp>
    </p:spTree>
    <p:extLst>
      <p:ext uri="{BB962C8B-B14F-4D97-AF65-F5344CB8AC3E}">
        <p14:creationId xmlns:p14="http://schemas.microsoft.com/office/powerpoint/2010/main" val="31760661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0663E1-E9DE-44CA-8343-843BC5210702}" type="datetime1">
              <a:rPr lang="en-US" smtClean="0"/>
              <a:t>2/12/2025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8E525B-DD2D-461C-89B3-D4D2A69E671A}" type="slidenum">
              <a:rPr lang="en-US" smtClean="0"/>
              <a:t>‹#›</a:t>
            </a:fld>
            <a:endParaRPr lang="en-US"/>
          </a:p>
        </p:txBody>
      </p:sp>
    </p:spTree>
    <p:extLst>
      <p:ext uri="{BB962C8B-B14F-4D97-AF65-F5344CB8AC3E}">
        <p14:creationId xmlns:p14="http://schemas.microsoft.com/office/powerpoint/2010/main" val="2248001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graphicFrame>
        <p:nvGraphicFramePr>
          <p:cNvPr id="62" name="Table 2">
            <a:extLst>
              <a:ext uri="{FF2B5EF4-FFF2-40B4-BE49-F238E27FC236}">
                <a16:creationId xmlns:a16="http://schemas.microsoft.com/office/drawing/2014/main" id="{D1BE1093-BEE0-45E8-9BC7-240B244480A5}"/>
              </a:ext>
            </a:extLst>
          </p:cNvPr>
          <p:cNvGraphicFramePr>
            <a:graphicFrameLocks noGrp="1"/>
          </p:cNvGraphicFramePr>
          <p:nvPr>
            <p:extLst>
              <p:ext uri="{D42A27DB-BD31-4B8C-83A1-F6EECF244321}">
                <p14:modId xmlns:p14="http://schemas.microsoft.com/office/powerpoint/2010/main" val="221862014"/>
              </p:ext>
            </p:extLst>
          </p:nvPr>
        </p:nvGraphicFramePr>
        <p:xfrm>
          <a:off x="9065065" y="1530683"/>
          <a:ext cx="2823080" cy="2377315"/>
        </p:xfrm>
        <a:graphic>
          <a:graphicData uri="http://schemas.openxmlformats.org/drawingml/2006/table">
            <a:tbl>
              <a:tblPr firstRow="1" bandRow="1">
                <a:tableStyleId>{5940675A-B579-460E-94D1-54222C63F5DA}</a:tableStyleId>
              </a:tblPr>
              <a:tblGrid>
                <a:gridCol w="2823080">
                  <a:extLst>
                    <a:ext uri="{9D8B030D-6E8A-4147-A177-3AD203B41FA5}">
                      <a16:colId xmlns:a16="http://schemas.microsoft.com/office/drawing/2014/main" val="1862241767"/>
                    </a:ext>
                  </a:extLst>
                </a:gridCol>
              </a:tblGrid>
              <a:tr h="624455">
                <a:tc>
                  <a:txBody>
                    <a:bodyPr/>
                    <a:lstStyle/>
                    <a:p>
                      <a:r>
                        <a:rPr lang="en-US" sz="1200" b="1" dirty="0">
                          <a:solidFill>
                            <a:schemeClr val="tx1"/>
                          </a:solidFill>
                          <a:latin typeface="Helvetica" pitchFamily="2" charset="0"/>
                        </a:rPr>
                        <a:t>Takeoff to Turnback Segments</a:t>
                      </a:r>
                    </a:p>
                  </a:txBody>
                  <a:tcPr marL="68580" marR="68580" marT="34290" marB="34290" anchor="ctr">
                    <a:solidFill>
                      <a:schemeClr val="bg1">
                        <a:lumMod val="85000"/>
                      </a:schemeClr>
                    </a:solidFill>
                  </a:tcPr>
                </a:tc>
                <a:extLst>
                  <a:ext uri="{0D108BD9-81ED-4DB2-BD59-A6C34878D82A}">
                    <a16:rowId xmlns:a16="http://schemas.microsoft.com/office/drawing/2014/main" val="360726354"/>
                  </a:ext>
                </a:extLst>
              </a:tr>
              <a:tr h="300725">
                <a:tc>
                  <a:txBody>
                    <a:bodyPr/>
                    <a:lstStyle/>
                    <a:p>
                      <a:r>
                        <a:rPr lang="en-US" sz="1000" b="1" dirty="0">
                          <a:latin typeface="Helvetica" pitchFamily="2" charset="0"/>
                        </a:rPr>
                        <a:t>Ground roll (distance)</a:t>
                      </a:r>
                    </a:p>
                  </a:txBody>
                  <a:tcPr marL="68580" marR="68580" marT="34290" marB="34290"/>
                </a:tc>
                <a:extLst>
                  <a:ext uri="{0D108BD9-81ED-4DB2-BD59-A6C34878D82A}">
                    <a16:rowId xmlns:a16="http://schemas.microsoft.com/office/drawing/2014/main" val="1558603971"/>
                  </a:ext>
                </a:extLst>
              </a:tr>
              <a:tr h="277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Climb (angle)</a:t>
                      </a:r>
                    </a:p>
                  </a:txBody>
                  <a:tcPr marL="68580" marR="68580" marT="34290" marB="34290"/>
                </a:tc>
                <a:extLst>
                  <a:ext uri="{0D108BD9-81ED-4DB2-BD59-A6C34878D82A}">
                    <a16:rowId xmlns:a16="http://schemas.microsoft.com/office/drawing/2014/main" val="415169930"/>
                  </a:ext>
                </a:extLst>
              </a:tr>
              <a:tr h="2774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Startle – (duration) </a:t>
                      </a:r>
                    </a:p>
                  </a:txBody>
                  <a:tcPr marL="68580" marR="68580" marT="34290" marB="34290"/>
                </a:tc>
                <a:extLst>
                  <a:ext uri="{0D108BD9-81ED-4DB2-BD59-A6C34878D82A}">
                    <a16:rowId xmlns:a16="http://schemas.microsoft.com/office/drawing/2014/main" val="1742047549"/>
                  </a:ext>
                </a:extLst>
              </a:tr>
              <a:tr h="3028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Turn (diameter and altitude loss)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500" b="1" dirty="0">
                        <a:latin typeface="Helvetica" pitchFamily="2" charset="0"/>
                      </a:endParaRPr>
                    </a:p>
                  </a:txBody>
                  <a:tcPr marL="68580" marR="68580" marT="34290" marB="34290"/>
                </a:tc>
                <a:extLst>
                  <a:ext uri="{0D108BD9-81ED-4DB2-BD59-A6C34878D82A}">
                    <a16:rowId xmlns:a16="http://schemas.microsoft.com/office/drawing/2014/main" val="1428331609"/>
                  </a:ext>
                </a:extLst>
              </a:tr>
              <a:tr h="2819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Glide back (angle)</a:t>
                      </a:r>
                    </a:p>
                    <a:p>
                      <a:endParaRPr lang="en-US" sz="500" b="1" dirty="0">
                        <a:latin typeface="Helvetica" pitchFamily="2" charset="0"/>
                      </a:endParaRPr>
                    </a:p>
                  </a:txBody>
                  <a:tcPr marL="68580" marR="68580" marT="34290" marB="34290"/>
                </a:tc>
                <a:extLst>
                  <a:ext uri="{0D108BD9-81ED-4DB2-BD59-A6C34878D82A}">
                    <a16:rowId xmlns:a16="http://schemas.microsoft.com/office/drawing/2014/main" val="3142618828"/>
                  </a:ext>
                </a:extLst>
              </a:tr>
              <a:tr h="2800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Final Turn to align with Runway (distance)</a:t>
                      </a:r>
                    </a:p>
                    <a:p>
                      <a:endParaRPr lang="en-US" sz="500" b="1" dirty="0">
                        <a:latin typeface="Helvetica" pitchFamily="2" charset="0"/>
                      </a:endParaRPr>
                    </a:p>
                  </a:txBody>
                  <a:tcPr marL="68580" marR="68580" marT="34290" marB="34290"/>
                </a:tc>
                <a:extLst>
                  <a:ext uri="{0D108BD9-81ED-4DB2-BD59-A6C34878D82A}">
                    <a16:rowId xmlns:a16="http://schemas.microsoft.com/office/drawing/2014/main" val="3607612082"/>
                  </a:ext>
                </a:extLst>
              </a:tr>
            </a:tbl>
          </a:graphicData>
        </a:graphic>
      </p:graphicFrame>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400233" y="220424"/>
            <a:ext cx="3106684" cy="307777"/>
          </a:xfrm>
          <a:prstGeom prst="rect">
            <a:avLst/>
          </a:prstGeom>
          <a:noFill/>
        </p:spPr>
        <p:txBody>
          <a:bodyPr wrap="none" rtlCol="0">
            <a:spAutoFit/>
          </a:bodyPr>
          <a:lstStyle/>
          <a:p>
            <a:r>
              <a:rPr lang="en-US" sz="1400" b="1" dirty="0">
                <a:solidFill>
                  <a:schemeClr val="bg1"/>
                </a:solidFill>
              </a:rPr>
              <a:t>A Segmented Analysis of the Maneuver</a:t>
            </a:r>
          </a:p>
        </p:txBody>
      </p:sp>
      <p:sp>
        <p:nvSpPr>
          <p:cNvPr id="2" name="TextBox 1">
            <a:extLst>
              <a:ext uri="{FF2B5EF4-FFF2-40B4-BE49-F238E27FC236}">
                <a16:creationId xmlns:a16="http://schemas.microsoft.com/office/drawing/2014/main" id="{EC2C197F-0469-314B-9D65-6798A73744EC}"/>
              </a:ext>
            </a:extLst>
          </p:cNvPr>
          <p:cNvSpPr txBox="1"/>
          <p:nvPr/>
        </p:nvSpPr>
        <p:spPr>
          <a:xfrm>
            <a:off x="75546" y="851865"/>
            <a:ext cx="8262211" cy="1169551"/>
          </a:xfrm>
          <a:prstGeom prst="rect">
            <a:avLst/>
          </a:prstGeom>
          <a:noFill/>
        </p:spPr>
        <p:txBody>
          <a:bodyPr wrap="square" rtlCol="0">
            <a:spAutoFit/>
          </a:bodyPr>
          <a:lstStyle/>
          <a:p>
            <a:pPr marL="0" marR="0" algn="just"/>
            <a:r>
              <a:rPr lang="en-US" sz="1400" dirty="0"/>
              <a:t>1. “</a:t>
            </a:r>
            <a:r>
              <a:rPr lang="en-US" sz="1400" dirty="0">
                <a:solidFill>
                  <a:srgbClr val="000000"/>
                </a:solidFill>
                <a:effectLst/>
                <a:ea typeface="Aptos" panose="020B0004020202020204" pitchFamily="34" charset="0"/>
                <a:cs typeface="Times New Roman" panose="02020603050405020304" pitchFamily="18" charset="0"/>
              </a:rPr>
              <a:t>We’ll reference this animation of a turnback trajectory that barely reaches a landing at the departure end of the takeoff runway.   This will allow us to see how sensitive the result is to changing various parameters.  </a:t>
            </a:r>
            <a:endParaRPr lang="en-US" sz="1400" dirty="0">
              <a:effectLst/>
              <a:ea typeface="Aptos" panose="020B0004020202020204" pitchFamily="34" charset="0"/>
              <a:cs typeface="Times New Roman" panose="02020603050405020304" pitchFamily="18" charset="0"/>
            </a:endParaRPr>
          </a:p>
          <a:p>
            <a:r>
              <a:rPr lang="en-US" sz="1400" dirty="0"/>
              <a:t> </a:t>
            </a:r>
            <a:r>
              <a:rPr lang="en-US" sz="1400" kern="0" dirty="0">
                <a:solidFill>
                  <a:srgbClr val="000000"/>
                </a:solidFill>
                <a:effectLst/>
                <a:ea typeface="Aptos" panose="020B0004020202020204" pitchFamily="34" charset="0"/>
              </a:rPr>
              <a:t>We’ve divided the trajectory into logical segments to break down our analysis.  In sequence these are the ground roll, climb segment, the startle segment right after the failure, the turn maneuver, the glide back phase and a final turn to align with the runway”</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sp>
        <p:nvSpPr>
          <p:cNvPr id="4" name="TextBox 3">
            <a:extLst>
              <a:ext uri="{FF2B5EF4-FFF2-40B4-BE49-F238E27FC236}">
                <a16:creationId xmlns:a16="http://schemas.microsoft.com/office/drawing/2014/main" id="{D6FEE976-ADA4-0979-F09D-FDD6000DF52D}"/>
              </a:ext>
            </a:extLst>
          </p:cNvPr>
          <p:cNvSpPr txBox="1"/>
          <p:nvPr/>
        </p:nvSpPr>
        <p:spPr>
          <a:xfrm>
            <a:off x="8531735" y="841004"/>
            <a:ext cx="3538725" cy="646331"/>
          </a:xfrm>
          <a:prstGeom prst="rect">
            <a:avLst/>
          </a:prstGeom>
          <a:noFill/>
        </p:spPr>
        <p:txBody>
          <a:bodyPr wrap="square" rtlCol="0">
            <a:spAutoFit/>
          </a:bodyPr>
          <a:lstStyle/>
          <a:p>
            <a:r>
              <a:rPr lang="en-US" sz="1200" dirty="0">
                <a:solidFill>
                  <a:srgbClr val="0070C0"/>
                </a:solidFill>
              </a:rPr>
              <a:t>In sequence, flash each segment name while also flashing the segment stick on the diagram as the segment is named in the narration</a:t>
            </a:r>
          </a:p>
        </p:txBody>
      </p:sp>
      <p:cxnSp>
        <p:nvCxnSpPr>
          <p:cNvPr id="6" name="Connector: Curved 5">
            <a:extLst>
              <a:ext uri="{FF2B5EF4-FFF2-40B4-BE49-F238E27FC236}">
                <a16:creationId xmlns:a16="http://schemas.microsoft.com/office/drawing/2014/main" id="{14DEBAD0-F1EE-B1EA-838C-FB7D8A1A8718}"/>
              </a:ext>
            </a:extLst>
          </p:cNvPr>
          <p:cNvCxnSpPr>
            <a:cxnSpLocks/>
          </p:cNvCxnSpPr>
          <p:nvPr/>
        </p:nvCxnSpPr>
        <p:spPr>
          <a:xfrm>
            <a:off x="8117425" y="1512976"/>
            <a:ext cx="948937" cy="739961"/>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graphicFrame>
        <p:nvGraphicFramePr>
          <p:cNvPr id="7" name="Table 2">
            <a:extLst>
              <a:ext uri="{FF2B5EF4-FFF2-40B4-BE49-F238E27FC236}">
                <a16:creationId xmlns:a16="http://schemas.microsoft.com/office/drawing/2014/main" id="{7D3B2C90-A1B1-A497-39EA-C58D4A9EAF4C}"/>
              </a:ext>
            </a:extLst>
          </p:cNvPr>
          <p:cNvGraphicFramePr>
            <a:graphicFrameLocks noGrp="1"/>
          </p:cNvGraphicFramePr>
          <p:nvPr>
            <p:extLst>
              <p:ext uri="{D42A27DB-BD31-4B8C-83A1-F6EECF244321}">
                <p14:modId xmlns:p14="http://schemas.microsoft.com/office/powerpoint/2010/main" val="2140638594"/>
              </p:ext>
            </p:extLst>
          </p:nvPr>
        </p:nvGraphicFramePr>
        <p:xfrm>
          <a:off x="9207240" y="4130543"/>
          <a:ext cx="2510013" cy="1703965"/>
        </p:xfrm>
        <a:graphic>
          <a:graphicData uri="http://schemas.openxmlformats.org/drawingml/2006/table">
            <a:tbl>
              <a:tblPr firstRow="1" bandRow="1">
                <a:tableStyleId>{5940675A-B579-460E-94D1-54222C63F5DA}</a:tableStyleId>
              </a:tblPr>
              <a:tblGrid>
                <a:gridCol w="2510013">
                  <a:extLst>
                    <a:ext uri="{9D8B030D-6E8A-4147-A177-3AD203B41FA5}">
                      <a16:colId xmlns:a16="http://schemas.microsoft.com/office/drawing/2014/main" val="1862241767"/>
                    </a:ext>
                  </a:extLst>
                </a:gridCol>
              </a:tblGrid>
              <a:tr h="776796">
                <a:tc>
                  <a:txBody>
                    <a:bodyPr/>
                    <a:lstStyle/>
                    <a:p>
                      <a:r>
                        <a:rPr lang="en-US" sz="1200" b="1" dirty="0">
                          <a:solidFill>
                            <a:schemeClr val="tx1"/>
                          </a:solidFill>
                          <a:latin typeface="Helvetica" pitchFamily="2" charset="0"/>
                        </a:rPr>
                        <a:t>Additional Turnback Factors</a:t>
                      </a:r>
                    </a:p>
                  </a:txBody>
                  <a:tcPr marL="68580" marR="68580" marT="34290" marB="34290" anchor="ctr">
                    <a:solidFill>
                      <a:schemeClr val="bg1">
                        <a:lumMod val="85000"/>
                      </a:schemeClr>
                    </a:solidFill>
                  </a:tcPr>
                </a:tc>
                <a:extLst>
                  <a:ext uri="{0D108BD9-81ED-4DB2-BD59-A6C34878D82A}">
                    <a16:rowId xmlns:a16="http://schemas.microsoft.com/office/drawing/2014/main" val="360726354"/>
                  </a:ext>
                </a:extLst>
              </a:tr>
              <a:tr h="3087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Runway Length</a:t>
                      </a:r>
                    </a:p>
                  </a:txBody>
                  <a:tcPr marL="68580" marR="68580" marT="34290" marB="34290"/>
                </a:tc>
                <a:extLst>
                  <a:ext uri="{0D108BD9-81ED-4DB2-BD59-A6C34878D82A}">
                    <a16:rowId xmlns:a16="http://schemas.microsoft.com/office/drawing/2014/main" val="1558603971"/>
                  </a:ext>
                </a:extLst>
              </a:tr>
              <a:tr h="3435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Altitude power is loss</a:t>
                      </a:r>
                    </a:p>
                  </a:txBody>
                  <a:tcPr marL="68580" marR="68580" marT="34290" marB="34290"/>
                </a:tc>
                <a:extLst>
                  <a:ext uri="{0D108BD9-81ED-4DB2-BD59-A6C34878D82A}">
                    <a16:rowId xmlns:a16="http://schemas.microsoft.com/office/drawing/2014/main" val="415169930"/>
                  </a:ext>
                </a:extLst>
              </a:tr>
              <a:tr h="2748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latin typeface="Helvetica" pitchFamily="2" charset="0"/>
                        </a:rPr>
                        <a:t>Wind</a:t>
                      </a:r>
                    </a:p>
                  </a:txBody>
                  <a:tcPr marL="68580" marR="68580" marT="34290" marB="34290"/>
                </a:tc>
                <a:extLst>
                  <a:ext uri="{0D108BD9-81ED-4DB2-BD59-A6C34878D82A}">
                    <a16:rowId xmlns:a16="http://schemas.microsoft.com/office/drawing/2014/main" val="2416537814"/>
                  </a:ext>
                </a:extLst>
              </a:tr>
            </a:tbl>
          </a:graphicData>
        </a:graphic>
      </p:graphicFrame>
      <p:cxnSp>
        <p:nvCxnSpPr>
          <p:cNvPr id="11" name="Connector: Curved 10">
            <a:extLst>
              <a:ext uri="{FF2B5EF4-FFF2-40B4-BE49-F238E27FC236}">
                <a16:creationId xmlns:a16="http://schemas.microsoft.com/office/drawing/2014/main" id="{753D7FA8-DBFE-4A90-4BB2-669FDF4A8539}"/>
              </a:ext>
            </a:extLst>
          </p:cNvPr>
          <p:cNvCxnSpPr>
            <a:cxnSpLocks/>
          </p:cNvCxnSpPr>
          <p:nvPr/>
        </p:nvCxnSpPr>
        <p:spPr>
          <a:xfrm>
            <a:off x="8639175" y="4209995"/>
            <a:ext cx="493073" cy="320796"/>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693FFB8-1D82-4C0C-B78C-549C1661CCCD}"/>
              </a:ext>
            </a:extLst>
          </p:cNvPr>
          <p:cNvSpPr txBox="1"/>
          <p:nvPr/>
        </p:nvSpPr>
        <p:spPr>
          <a:xfrm>
            <a:off x="6500929" y="3759132"/>
            <a:ext cx="2435263" cy="1938992"/>
          </a:xfrm>
          <a:prstGeom prst="rect">
            <a:avLst/>
          </a:prstGeom>
          <a:noFill/>
        </p:spPr>
        <p:txBody>
          <a:bodyPr wrap="square" rtlCol="0">
            <a:spAutoFit/>
          </a:bodyPr>
          <a:lstStyle/>
          <a:p>
            <a:r>
              <a:rPr lang="en-US" sz="1400" dirty="0"/>
              <a:t>2. “In addition to the flight path segments, there are three more factors to evaluate with the animation.  These are the  runway length, the altitude power is lost and the winds”   </a:t>
            </a:r>
            <a:r>
              <a:rPr lang="en-US" sz="1200" dirty="0">
                <a:solidFill>
                  <a:srgbClr val="0070C0"/>
                </a:solidFill>
              </a:rPr>
              <a:t>Flash each box and the item on the diagram, as the names are pronounced</a:t>
            </a:r>
            <a:endParaRPr lang="en-US" sz="1400" dirty="0"/>
          </a:p>
        </p:txBody>
      </p:sp>
      <p:sp>
        <p:nvSpPr>
          <p:cNvPr id="16" name="TextBox 15">
            <a:extLst>
              <a:ext uri="{FF2B5EF4-FFF2-40B4-BE49-F238E27FC236}">
                <a16:creationId xmlns:a16="http://schemas.microsoft.com/office/drawing/2014/main" id="{9125D305-72FB-A5A5-D81D-B56B2B8F8B96}"/>
              </a:ext>
            </a:extLst>
          </p:cNvPr>
          <p:cNvSpPr txBox="1"/>
          <p:nvPr/>
        </p:nvSpPr>
        <p:spPr>
          <a:xfrm>
            <a:off x="3607194" y="5989390"/>
            <a:ext cx="8288632" cy="523220"/>
          </a:xfrm>
          <a:prstGeom prst="rect">
            <a:avLst/>
          </a:prstGeom>
          <a:noFill/>
        </p:spPr>
        <p:txBody>
          <a:bodyPr wrap="square" rtlCol="0">
            <a:spAutoFit/>
          </a:bodyPr>
          <a:lstStyle/>
          <a:p>
            <a:r>
              <a:rPr lang="en-US" sz="1400" dirty="0"/>
              <a:t>3.  “The diagram shows a flight path scenario that just barely makes it back to the runway. The effects of varying each segment, as compared to this initial condition, will be shown in the following discussion.”</a:t>
            </a:r>
          </a:p>
        </p:txBody>
      </p:sp>
      <p:cxnSp>
        <p:nvCxnSpPr>
          <p:cNvPr id="22" name="Connector: Curved 21">
            <a:extLst>
              <a:ext uri="{FF2B5EF4-FFF2-40B4-BE49-F238E27FC236}">
                <a16:creationId xmlns:a16="http://schemas.microsoft.com/office/drawing/2014/main" id="{FF713DE4-C3A6-4518-B901-8F874CFFCC9F}"/>
              </a:ext>
            </a:extLst>
          </p:cNvPr>
          <p:cNvCxnSpPr>
            <a:cxnSpLocks/>
          </p:cNvCxnSpPr>
          <p:nvPr/>
        </p:nvCxnSpPr>
        <p:spPr>
          <a:xfrm rot="10800000">
            <a:off x="4171540" y="4990352"/>
            <a:ext cx="962484" cy="957063"/>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4653206-E717-0995-AD16-DC537DE62609}"/>
              </a:ext>
            </a:extLst>
          </p:cNvPr>
          <p:cNvSpPr txBox="1"/>
          <p:nvPr/>
        </p:nvSpPr>
        <p:spPr>
          <a:xfrm>
            <a:off x="4785550" y="5231574"/>
            <a:ext cx="1615930" cy="646331"/>
          </a:xfrm>
          <a:prstGeom prst="rect">
            <a:avLst/>
          </a:prstGeom>
          <a:noFill/>
        </p:spPr>
        <p:txBody>
          <a:bodyPr wrap="square" rtlCol="0">
            <a:spAutoFit/>
          </a:bodyPr>
          <a:lstStyle/>
          <a:p>
            <a:r>
              <a:rPr lang="en-US" sz="1200" dirty="0">
                <a:solidFill>
                  <a:srgbClr val="0070C0"/>
                </a:solidFill>
              </a:rPr>
              <a:t>Flash a circle around the touchdown point as line 3 is narrated</a:t>
            </a:r>
          </a:p>
        </p:txBody>
      </p:sp>
    </p:spTree>
    <p:extLst>
      <p:ext uri="{BB962C8B-B14F-4D97-AF65-F5344CB8AC3E}">
        <p14:creationId xmlns:p14="http://schemas.microsoft.com/office/powerpoint/2010/main" val="75239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761543" y="165920"/>
            <a:ext cx="2075633" cy="307777"/>
          </a:xfrm>
          <a:prstGeom prst="rect">
            <a:avLst/>
          </a:prstGeom>
          <a:noFill/>
        </p:spPr>
        <p:txBody>
          <a:bodyPr wrap="none" rtlCol="0">
            <a:spAutoFit/>
          </a:bodyPr>
          <a:lstStyle/>
          <a:p>
            <a:r>
              <a:rPr lang="en-US" sz="1400" b="1" dirty="0">
                <a:solidFill>
                  <a:schemeClr val="bg1"/>
                </a:solidFill>
              </a:rPr>
              <a:t>The Ground Roll Segment</a:t>
            </a:r>
          </a:p>
        </p:txBody>
      </p:sp>
      <p:sp>
        <p:nvSpPr>
          <p:cNvPr id="2" name="TextBox 1">
            <a:extLst>
              <a:ext uri="{FF2B5EF4-FFF2-40B4-BE49-F238E27FC236}">
                <a16:creationId xmlns:a16="http://schemas.microsoft.com/office/drawing/2014/main" id="{EC2C197F-0469-314B-9D65-6798A73744EC}"/>
              </a:ext>
            </a:extLst>
          </p:cNvPr>
          <p:cNvSpPr txBox="1"/>
          <p:nvPr/>
        </p:nvSpPr>
        <p:spPr>
          <a:xfrm>
            <a:off x="138022" y="875874"/>
            <a:ext cx="8262211" cy="954107"/>
          </a:xfrm>
          <a:prstGeom prst="rect">
            <a:avLst/>
          </a:prstGeom>
          <a:noFill/>
        </p:spPr>
        <p:txBody>
          <a:bodyPr wrap="square" rtlCol="0">
            <a:spAutoFit/>
          </a:bodyPr>
          <a:lstStyle/>
          <a:p>
            <a:r>
              <a:rPr lang="en-US" sz="1400" dirty="0"/>
              <a:t>1. “Looking first at the Ground Roll you’ll notice how a longer or shorter ground roll directly affects the final touchdown point…. assuming all other items remain unchanged.  The longer ground roll proportionately moves the final touchdown point further away, while a shorter ground roll pulls the final touchdown point further into the runway.  </a:t>
            </a:r>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sp>
        <p:nvSpPr>
          <p:cNvPr id="4" name="TextBox 3">
            <a:extLst>
              <a:ext uri="{FF2B5EF4-FFF2-40B4-BE49-F238E27FC236}">
                <a16:creationId xmlns:a16="http://schemas.microsoft.com/office/drawing/2014/main" id="{D6FEE976-ADA4-0979-F09D-FDD6000DF52D}"/>
              </a:ext>
            </a:extLst>
          </p:cNvPr>
          <p:cNvSpPr txBox="1"/>
          <p:nvPr/>
        </p:nvSpPr>
        <p:spPr>
          <a:xfrm>
            <a:off x="48970" y="1761276"/>
            <a:ext cx="4139013" cy="1200329"/>
          </a:xfrm>
          <a:prstGeom prst="rect">
            <a:avLst/>
          </a:prstGeom>
          <a:noFill/>
        </p:spPr>
        <p:txBody>
          <a:bodyPr wrap="square" rtlCol="0">
            <a:spAutoFit/>
          </a:bodyPr>
          <a:lstStyle/>
          <a:p>
            <a:r>
              <a:rPr lang="en-US" sz="1200" dirty="0">
                <a:solidFill>
                  <a:srgbClr val="0070C0"/>
                </a:solidFill>
              </a:rPr>
              <a:t>In animation, shift the liftoff point further down the runway, and move the entire remainder of the diagram to the right, driving the touchdown point off the end of the runway… then do the reverse, shifting the liftoff point to the left (shorter ground roll) and move the entire remainder of the diagram left, causing the touchdown to move left closer to the liftoff point.  </a:t>
            </a:r>
          </a:p>
        </p:txBody>
      </p:sp>
      <p:sp>
        <p:nvSpPr>
          <p:cNvPr id="12" name="TextBox 11">
            <a:extLst>
              <a:ext uri="{FF2B5EF4-FFF2-40B4-BE49-F238E27FC236}">
                <a16:creationId xmlns:a16="http://schemas.microsoft.com/office/drawing/2014/main" id="{0693FFB8-1D82-4C0C-B78C-549C1661CCCD}"/>
              </a:ext>
            </a:extLst>
          </p:cNvPr>
          <p:cNvSpPr txBox="1"/>
          <p:nvPr/>
        </p:nvSpPr>
        <p:spPr>
          <a:xfrm>
            <a:off x="8400233" y="3328733"/>
            <a:ext cx="3038552" cy="738664"/>
          </a:xfrm>
          <a:prstGeom prst="rect">
            <a:avLst/>
          </a:prstGeom>
          <a:noFill/>
        </p:spPr>
        <p:txBody>
          <a:bodyPr wrap="square" rtlCol="0">
            <a:spAutoFit/>
          </a:bodyPr>
          <a:lstStyle/>
          <a:p>
            <a:r>
              <a:rPr lang="en-US" sz="1400" dirty="0"/>
              <a:t>2. “We know that ground roll changes with gross weight, density altitude, winds, runway surface and slope. </a:t>
            </a:r>
          </a:p>
        </p:txBody>
      </p:sp>
      <p:sp>
        <p:nvSpPr>
          <p:cNvPr id="16" name="TextBox 15">
            <a:extLst>
              <a:ext uri="{FF2B5EF4-FFF2-40B4-BE49-F238E27FC236}">
                <a16:creationId xmlns:a16="http://schemas.microsoft.com/office/drawing/2014/main" id="{9125D305-72FB-A5A5-D81D-B56B2B8F8B96}"/>
              </a:ext>
            </a:extLst>
          </p:cNvPr>
          <p:cNvSpPr txBox="1"/>
          <p:nvPr/>
        </p:nvSpPr>
        <p:spPr>
          <a:xfrm>
            <a:off x="4200773" y="5244625"/>
            <a:ext cx="7635806" cy="523220"/>
          </a:xfrm>
          <a:prstGeom prst="rect">
            <a:avLst/>
          </a:prstGeom>
          <a:noFill/>
        </p:spPr>
        <p:txBody>
          <a:bodyPr wrap="square" rtlCol="0">
            <a:spAutoFit/>
          </a:bodyPr>
          <a:lstStyle/>
          <a:p>
            <a:r>
              <a:rPr lang="en-US" sz="1400" dirty="0"/>
              <a:t>3.  “Given this ground roll effect we should all question the wisdom of intersection takeoffs. </a:t>
            </a:r>
            <a:r>
              <a:rPr lang="en-US" sz="1400" kern="0" dirty="0">
                <a:solidFill>
                  <a:srgbClr val="000000"/>
                </a:solidFill>
                <a:effectLst/>
                <a:ea typeface="Aptos" panose="020B0004020202020204" pitchFamily="34" charset="0"/>
              </a:rPr>
              <a:t>Unless an intersection takeoff is required by the  tower or for traffic, we should use the full runway.” </a:t>
            </a:r>
            <a:endParaRPr lang="en-US" sz="1400" dirty="0"/>
          </a:p>
        </p:txBody>
      </p:sp>
      <p:cxnSp>
        <p:nvCxnSpPr>
          <p:cNvPr id="22" name="Connector: Curved 21">
            <a:extLst>
              <a:ext uri="{FF2B5EF4-FFF2-40B4-BE49-F238E27FC236}">
                <a16:creationId xmlns:a16="http://schemas.microsoft.com/office/drawing/2014/main" id="{FF713DE4-C3A6-4518-B901-8F874CFFCC9F}"/>
              </a:ext>
            </a:extLst>
          </p:cNvPr>
          <p:cNvCxnSpPr>
            <a:cxnSpLocks/>
          </p:cNvCxnSpPr>
          <p:nvPr/>
        </p:nvCxnSpPr>
        <p:spPr>
          <a:xfrm rot="5400000">
            <a:off x="1916692" y="3183388"/>
            <a:ext cx="1835868" cy="1253677"/>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6517F21-B801-00B6-1EDE-9AD9D2E08164}"/>
              </a:ext>
            </a:extLst>
          </p:cNvPr>
          <p:cNvCxnSpPr>
            <a:cxnSpLocks/>
          </p:cNvCxnSpPr>
          <p:nvPr/>
        </p:nvCxnSpPr>
        <p:spPr>
          <a:xfrm flipV="1">
            <a:off x="1790890" y="4907015"/>
            <a:ext cx="879996" cy="417193"/>
          </a:xfrm>
          <a:prstGeom prst="straightConnector1">
            <a:avLst/>
          </a:prstGeom>
          <a:ln w="15875">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776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761543" y="165920"/>
            <a:ext cx="1781385" cy="307777"/>
          </a:xfrm>
          <a:prstGeom prst="rect">
            <a:avLst/>
          </a:prstGeom>
          <a:noFill/>
        </p:spPr>
        <p:txBody>
          <a:bodyPr wrap="none" rtlCol="0">
            <a:spAutoFit/>
          </a:bodyPr>
          <a:lstStyle/>
          <a:p>
            <a:r>
              <a:rPr lang="en-US" sz="1400" b="1" dirty="0">
                <a:solidFill>
                  <a:schemeClr val="bg1"/>
                </a:solidFill>
              </a:rPr>
              <a:t>Runway Length Effect</a:t>
            </a:r>
          </a:p>
        </p:txBody>
      </p:sp>
      <p:sp>
        <p:nvSpPr>
          <p:cNvPr id="2" name="TextBox 1">
            <a:extLst>
              <a:ext uri="{FF2B5EF4-FFF2-40B4-BE49-F238E27FC236}">
                <a16:creationId xmlns:a16="http://schemas.microsoft.com/office/drawing/2014/main" id="{EC2C197F-0469-314B-9D65-6798A73744EC}"/>
              </a:ext>
            </a:extLst>
          </p:cNvPr>
          <p:cNvSpPr txBox="1"/>
          <p:nvPr/>
        </p:nvSpPr>
        <p:spPr>
          <a:xfrm>
            <a:off x="76940" y="729685"/>
            <a:ext cx="8262211" cy="954107"/>
          </a:xfrm>
          <a:prstGeom prst="rect">
            <a:avLst/>
          </a:prstGeom>
          <a:noFill/>
        </p:spPr>
        <p:txBody>
          <a:bodyPr wrap="square" rtlCol="0">
            <a:spAutoFit/>
          </a:bodyPr>
          <a:lstStyle/>
          <a:p>
            <a:r>
              <a:rPr lang="en-US" sz="1400" dirty="0"/>
              <a:t>1. “Runway length has a similar effect. For identical conditions, the aircraft fails to return to a short runway but can make the longer runway with margin.  It’s easy to see how use of intersection takeoffs effectively eliminates the advantage of longer runways in an emergency.  The old saying applies; the two most useless things in aviation are the altitude above you and the runway behind you..”  </a:t>
            </a:r>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sp>
        <p:nvSpPr>
          <p:cNvPr id="4" name="TextBox 3">
            <a:extLst>
              <a:ext uri="{FF2B5EF4-FFF2-40B4-BE49-F238E27FC236}">
                <a16:creationId xmlns:a16="http://schemas.microsoft.com/office/drawing/2014/main" id="{D6FEE976-ADA4-0979-F09D-FDD6000DF52D}"/>
              </a:ext>
            </a:extLst>
          </p:cNvPr>
          <p:cNvSpPr txBox="1"/>
          <p:nvPr/>
        </p:nvSpPr>
        <p:spPr>
          <a:xfrm>
            <a:off x="139526" y="2326269"/>
            <a:ext cx="4077840" cy="1384995"/>
          </a:xfrm>
          <a:prstGeom prst="rect">
            <a:avLst/>
          </a:prstGeom>
          <a:noFill/>
        </p:spPr>
        <p:txBody>
          <a:bodyPr wrap="square" rtlCol="0">
            <a:spAutoFit/>
          </a:bodyPr>
          <a:lstStyle/>
          <a:p>
            <a:r>
              <a:rPr lang="en-US" sz="1200" dirty="0">
                <a:solidFill>
                  <a:srgbClr val="0070C0"/>
                </a:solidFill>
              </a:rPr>
              <a:t>In animation, stretch the runway length well out to the right, making it about twice as long as shown… then retract it back to the left making it half as long as </a:t>
            </a:r>
            <a:r>
              <a:rPr lang="en-US" sz="1200" dirty="0" err="1">
                <a:solidFill>
                  <a:srgbClr val="0070C0"/>
                </a:solidFill>
              </a:rPr>
              <a:t>as</a:t>
            </a:r>
            <a:r>
              <a:rPr lang="en-US" sz="1200" dirty="0">
                <a:solidFill>
                  <a:srgbClr val="0070C0"/>
                </a:solidFill>
              </a:rPr>
              <a:t> shown.  All the rest of the diagram does not move.    As the narration begins to discuss the intersection takeoff, insert an intersection in the diagram and slide the entire stick diagram to the right showing the beginning of the takeoff roll is down at the intersection….</a:t>
            </a:r>
          </a:p>
        </p:txBody>
      </p:sp>
      <p:cxnSp>
        <p:nvCxnSpPr>
          <p:cNvPr id="24" name="Straight Arrow Connector 23">
            <a:extLst>
              <a:ext uri="{FF2B5EF4-FFF2-40B4-BE49-F238E27FC236}">
                <a16:creationId xmlns:a16="http://schemas.microsoft.com/office/drawing/2014/main" id="{36517F21-B801-00B6-1EDE-9AD9D2E08164}"/>
              </a:ext>
            </a:extLst>
          </p:cNvPr>
          <p:cNvCxnSpPr>
            <a:cxnSpLocks/>
          </p:cNvCxnSpPr>
          <p:nvPr/>
        </p:nvCxnSpPr>
        <p:spPr>
          <a:xfrm flipV="1">
            <a:off x="3603742" y="4769228"/>
            <a:ext cx="879996" cy="417193"/>
          </a:xfrm>
          <a:prstGeom prst="straightConnector1">
            <a:avLst/>
          </a:prstGeom>
          <a:ln w="15875">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5" name="Connector: Curved 4">
            <a:extLst>
              <a:ext uri="{FF2B5EF4-FFF2-40B4-BE49-F238E27FC236}">
                <a16:creationId xmlns:a16="http://schemas.microsoft.com/office/drawing/2014/main" id="{2BA7D23F-DE3D-77FA-6DCA-03B2E43D3857}"/>
              </a:ext>
            </a:extLst>
          </p:cNvPr>
          <p:cNvCxnSpPr>
            <a:cxnSpLocks/>
          </p:cNvCxnSpPr>
          <p:nvPr/>
        </p:nvCxnSpPr>
        <p:spPr>
          <a:xfrm rot="16200000" flipH="1">
            <a:off x="279289" y="4019734"/>
            <a:ext cx="1435489" cy="919486"/>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34AF79F-7A88-F579-9843-2C698253834C}"/>
              </a:ext>
            </a:extLst>
          </p:cNvPr>
          <p:cNvCxnSpPr/>
          <p:nvPr/>
        </p:nvCxnSpPr>
        <p:spPr>
          <a:xfrm flipV="1">
            <a:off x="1551406" y="5497097"/>
            <a:ext cx="509454" cy="241018"/>
          </a:xfrm>
          <a:prstGeom prst="straightConnector1">
            <a:avLst/>
          </a:prstGeom>
          <a:ln w="22225">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0" name="Parallelogram 19">
            <a:extLst>
              <a:ext uri="{FF2B5EF4-FFF2-40B4-BE49-F238E27FC236}">
                <a16:creationId xmlns:a16="http://schemas.microsoft.com/office/drawing/2014/main" id="{3D35F995-ADA7-522F-5208-53D1A8CAF8D2}"/>
              </a:ext>
            </a:extLst>
          </p:cNvPr>
          <p:cNvSpPr/>
          <p:nvPr/>
        </p:nvSpPr>
        <p:spPr>
          <a:xfrm rot="1038685">
            <a:off x="1043333" y="5241232"/>
            <a:ext cx="1424963" cy="125963"/>
          </a:xfrm>
          <a:prstGeom prst="parallelogram">
            <a:avLst>
              <a:gd name="adj" fmla="val 139308"/>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F789C33A-5354-C488-D67C-EF119FF114E1}"/>
              </a:ext>
            </a:extLst>
          </p:cNvPr>
          <p:cNvSpPr txBox="1"/>
          <p:nvPr/>
        </p:nvSpPr>
        <p:spPr>
          <a:xfrm>
            <a:off x="394358" y="5193419"/>
            <a:ext cx="1656422" cy="307777"/>
          </a:xfrm>
          <a:prstGeom prst="rect">
            <a:avLst/>
          </a:prstGeom>
          <a:noFill/>
        </p:spPr>
        <p:txBody>
          <a:bodyPr wrap="square" rtlCol="0">
            <a:spAutoFit/>
          </a:bodyPr>
          <a:lstStyle/>
          <a:p>
            <a:r>
              <a:rPr lang="en-US" sz="1400" dirty="0">
                <a:solidFill>
                  <a:srgbClr val="0070C0"/>
                </a:solidFill>
              </a:rPr>
              <a:t>Intersecting taxiway</a:t>
            </a:r>
          </a:p>
        </p:txBody>
      </p:sp>
    </p:spTree>
    <p:extLst>
      <p:ext uri="{BB962C8B-B14F-4D97-AF65-F5344CB8AC3E}">
        <p14:creationId xmlns:p14="http://schemas.microsoft.com/office/powerpoint/2010/main" val="3818226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761543" y="165920"/>
            <a:ext cx="2082558" cy="307777"/>
          </a:xfrm>
          <a:prstGeom prst="rect">
            <a:avLst/>
          </a:prstGeom>
          <a:noFill/>
        </p:spPr>
        <p:txBody>
          <a:bodyPr wrap="none" rtlCol="0">
            <a:spAutoFit/>
          </a:bodyPr>
          <a:lstStyle/>
          <a:p>
            <a:r>
              <a:rPr lang="en-US" sz="1400" b="1" dirty="0">
                <a:solidFill>
                  <a:schemeClr val="bg1"/>
                </a:solidFill>
              </a:rPr>
              <a:t>The Climb Angle Segment</a:t>
            </a:r>
          </a:p>
        </p:txBody>
      </p:sp>
      <p:sp>
        <p:nvSpPr>
          <p:cNvPr id="2" name="TextBox 1">
            <a:extLst>
              <a:ext uri="{FF2B5EF4-FFF2-40B4-BE49-F238E27FC236}">
                <a16:creationId xmlns:a16="http://schemas.microsoft.com/office/drawing/2014/main" id="{EC2C197F-0469-314B-9D65-6798A73744EC}"/>
              </a:ext>
            </a:extLst>
          </p:cNvPr>
          <p:cNvSpPr txBox="1"/>
          <p:nvPr/>
        </p:nvSpPr>
        <p:spPr>
          <a:xfrm>
            <a:off x="159448" y="716830"/>
            <a:ext cx="11886778" cy="1169551"/>
          </a:xfrm>
          <a:prstGeom prst="rect">
            <a:avLst/>
          </a:prstGeom>
          <a:noFill/>
        </p:spPr>
        <p:txBody>
          <a:bodyPr wrap="square" rtlCol="0">
            <a:spAutoFit/>
          </a:bodyPr>
          <a:lstStyle/>
          <a:p>
            <a:r>
              <a:rPr lang="en-US" sz="1400" dirty="0"/>
              <a:t>1. </a:t>
            </a:r>
            <a:r>
              <a:rPr lang="en-US" sz="1400" dirty="0">
                <a:solidFill>
                  <a:srgbClr val="000000"/>
                </a:solidFill>
                <a:effectLst/>
                <a:ea typeface="Aptos" panose="020B0004020202020204" pitchFamily="34" charset="0"/>
                <a:cs typeface="Times New Roman" panose="02020603050405020304" pitchFamily="18" charset="0"/>
              </a:rPr>
              <a:t>“The climb segment is a big contributor to the turnback result.   Notice how increasing the climb angle raises all other subsequent points in the flight path and effectively keeps the aircraft closer to the runway as you climb.  Also notice how the final touchdown point moves closer to the liftoff point as we increase the climb angle, while it moves further down range if we decrease the climb angle, all other factors remaining constant.    In general, if the climb angle is not greater than the aircraft’s glidepath angle, the aircraft never gets above the glide plane and can’t make a turnback.  The exception is for a very long runway where the aircraft may still be close enough after an engine failure to get back to the departure end.”</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sp>
        <p:nvSpPr>
          <p:cNvPr id="4" name="TextBox 3">
            <a:extLst>
              <a:ext uri="{FF2B5EF4-FFF2-40B4-BE49-F238E27FC236}">
                <a16:creationId xmlns:a16="http://schemas.microsoft.com/office/drawing/2014/main" id="{D6FEE976-ADA4-0979-F09D-FDD6000DF52D}"/>
              </a:ext>
            </a:extLst>
          </p:cNvPr>
          <p:cNvSpPr txBox="1"/>
          <p:nvPr/>
        </p:nvSpPr>
        <p:spPr>
          <a:xfrm>
            <a:off x="85605" y="2695164"/>
            <a:ext cx="4139013" cy="1384995"/>
          </a:xfrm>
          <a:prstGeom prst="rect">
            <a:avLst/>
          </a:prstGeom>
          <a:noFill/>
        </p:spPr>
        <p:txBody>
          <a:bodyPr wrap="square" rtlCol="0">
            <a:spAutoFit/>
          </a:bodyPr>
          <a:lstStyle/>
          <a:p>
            <a:r>
              <a:rPr lang="en-US" sz="1200" dirty="0">
                <a:solidFill>
                  <a:srgbClr val="0070C0"/>
                </a:solidFill>
              </a:rPr>
              <a:t>In animation, steepen the climb angle segment while keeping all other segments fixed… this will raise the height of all points after the top of the climb… which will lengthen the glide angle leg before reaching the ground, and thus move the landing point closer to the liftoff point on the runway…. Next, shallow out the climb angle to show the reverse effect, resulting in a touchdown point short of the runway.  </a:t>
            </a:r>
          </a:p>
        </p:txBody>
      </p:sp>
      <p:sp>
        <p:nvSpPr>
          <p:cNvPr id="12" name="TextBox 11">
            <a:extLst>
              <a:ext uri="{FF2B5EF4-FFF2-40B4-BE49-F238E27FC236}">
                <a16:creationId xmlns:a16="http://schemas.microsoft.com/office/drawing/2014/main" id="{0693FFB8-1D82-4C0C-B78C-549C1661CCCD}"/>
              </a:ext>
            </a:extLst>
          </p:cNvPr>
          <p:cNvSpPr txBox="1"/>
          <p:nvPr/>
        </p:nvSpPr>
        <p:spPr>
          <a:xfrm>
            <a:off x="8357473" y="2026353"/>
            <a:ext cx="3852850" cy="2462213"/>
          </a:xfrm>
          <a:prstGeom prst="rect">
            <a:avLst/>
          </a:prstGeom>
          <a:noFill/>
        </p:spPr>
        <p:txBody>
          <a:bodyPr wrap="square" rtlCol="0">
            <a:spAutoFit/>
          </a:bodyPr>
          <a:lstStyle/>
          <a:p>
            <a:r>
              <a:rPr lang="en-US" sz="1400" dirty="0"/>
              <a:t>2. “Your climb angle will vary with gross weight, density altitude, winds, aircraft configuration and climb speed. </a:t>
            </a:r>
          </a:p>
          <a:p>
            <a:endParaRPr lang="en-US" sz="1400" dirty="0"/>
          </a:p>
          <a:p>
            <a:r>
              <a:rPr lang="en-US" sz="1400" dirty="0"/>
              <a:t>Your choice of Vx, Vy or a cruise climb speed is an often-debated topic.  In general, it is best to use Vx only for clearing close in obstacles and use Vy to get to a safe altitude.  Using a cruise climb immediately after departure can shrink your landing emergency options due to the shallower angle.  </a:t>
            </a:r>
          </a:p>
        </p:txBody>
      </p:sp>
      <p:sp>
        <p:nvSpPr>
          <p:cNvPr id="30" name="TextBox 29">
            <a:extLst>
              <a:ext uri="{FF2B5EF4-FFF2-40B4-BE49-F238E27FC236}">
                <a16:creationId xmlns:a16="http://schemas.microsoft.com/office/drawing/2014/main" id="{04653206-E717-0995-AD16-DC537DE62609}"/>
              </a:ext>
            </a:extLst>
          </p:cNvPr>
          <p:cNvSpPr txBox="1"/>
          <p:nvPr/>
        </p:nvSpPr>
        <p:spPr>
          <a:xfrm>
            <a:off x="5364229" y="3906253"/>
            <a:ext cx="2523252" cy="646331"/>
          </a:xfrm>
          <a:prstGeom prst="rect">
            <a:avLst/>
          </a:prstGeom>
          <a:noFill/>
        </p:spPr>
        <p:txBody>
          <a:bodyPr wrap="square" rtlCol="0">
            <a:spAutoFit/>
          </a:bodyPr>
          <a:lstStyle/>
          <a:p>
            <a:r>
              <a:rPr lang="en-US" sz="1200" dirty="0">
                <a:solidFill>
                  <a:srgbClr val="0070C0"/>
                </a:solidFill>
              </a:rPr>
              <a:t>Raise/lower the climb angle and show how touchdown point moves left or right accordingly</a:t>
            </a:r>
          </a:p>
        </p:txBody>
      </p:sp>
      <p:cxnSp>
        <p:nvCxnSpPr>
          <p:cNvPr id="24" name="Straight Arrow Connector 23">
            <a:extLst>
              <a:ext uri="{FF2B5EF4-FFF2-40B4-BE49-F238E27FC236}">
                <a16:creationId xmlns:a16="http://schemas.microsoft.com/office/drawing/2014/main" id="{36517F21-B801-00B6-1EDE-9AD9D2E08164}"/>
              </a:ext>
            </a:extLst>
          </p:cNvPr>
          <p:cNvCxnSpPr>
            <a:cxnSpLocks/>
          </p:cNvCxnSpPr>
          <p:nvPr/>
        </p:nvCxnSpPr>
        <p:spPr>
          <a:xfrm flipV="1">
            <a:off x="3561772" y="4705169"/>
            <a:ext cx="879996" cy="417193"/>
          </a:xfrm>
          <a:prstGeom prst="straightConnector1">
            <a:avLst/>
          </a:prstGeom>
          <a:ln w="15875">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7" name="Arrow: Curved Up 6">
            <a:extLst>
              <a:ext uri="{FF2B5EF4-FFF2-40B4-BE49-F238E27FC236}">
                <a16:creationId xmlns:a16="http://schemas.microsoft.com/office/drawing/2014/main" id="{54A36A38-FC20-04A8-5680-828C6B9C9329}"/>
              </a:ext>
            </a:extLst>
          </p:cNvPr>
          <p:cNvSpPr/>
          <p:nvPr/>
        </p:nvSpPr>
        <p:spPr>
          <a:xfrm rot="16429151">
            <a:off x="5614211" y="2674427"/>
            <a:ext cx="680859" cy="226125"/>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Arrow: Curved Up 10">
            <a:extLst>
              <a:ext uri="{FF2B5EF4-FFF2-40B4-BE49-F238E27FC236}">
                <a16:creationId xmlns:a16="http://schemas.microsoft.com/office/drawing/2014/main" id="{EFA45846-368D-A258-03CF-DCE005B1A52D}"/>
              </a:ext>
            </a:extLst>
          </p:cNvPr>
          <p:cNvSpPr/>
          <p:nvPr/>
        </p:nvSpPr>
        <p:spPr>
          <a:xfrm rot="2636231" flipV="1">
            <a:off x="5777152" y="3097631"/>
            <a:ext cx="544697" cy="229616"/>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3" name="Connector: Curved 12">
            <a:extLst>
              <a:ext uri="{FF2B5EF4-FFF2-40B4-BE49-F238E27FC236}">
                <a16:creationId xmlns:a16="http://schemas.microsoft.com/office/drawing/2014/main" id="{9D7E247E-A7DE-8A08-81BE-E61177678AB8}"/>
              </a:ext>
            </a:extLst>
          </p:cNvPr>
          <p:cNvCxnSpPr>
            <a:cxnSpLocks/>
          </p:cNvCxnSpPr>
          <p:nvPr/>
        </p:nvCxnSpPr>
        <p:spPr>
          <a:xfrm rot="10800000" flipV="1">
            <a:off x="4635818" y="4505504"/>
            <a:ext cx="732738" cy="267848"/>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D4630375-78A7-D569-B450-285FF35D0C84}"/>
              </a:ext>
            </a:extLst>
          </p:cNvPr>
          <p:cNvCxnSpPr>
            <a:cxnSpLocks/>
          </p:cNvCxnSpPr>
          <p:nvPr/>
        </p:nvCxnSpPr>
        <p:spPr>
          <a:xfrm rot="16200000" flipV="1">
            <a:off x="5822960" y="3641175"/>
            <a:ext cx="377990" cy="153765"/>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0882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159784"/>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761543" y="165920"/>
            <a:ext cx="2120902" cy="307777"/>
          </a:xfrm>
          <a:prstGeom prst="rect">
            <a:avLst/>
          </a:prstGeom>
          <a:noFill/>
        </p:spPr>
        <p:txBody>
          <a:bodyPr wrap="none" rtlCol="0">
            <a:spAutoFit/>
          </a:bodyPr>
          <a:lstStyle/>
          <a:p>
            <a:r>
              <a:rPr lang="en-US" sz="1400" b="1" dirty="0">
                <a:solidFill>
                  <a:schemeClr val="bg1"/>
                </a:solidFill>
              </a:rPr>
              <a:t>The Altitude Power is Lost</a:t>
            </a:r>
          </a:p>
        </p:txBody>
      </p:sp>
      <p:sp>
        <p:nvSpPr>
          <p:cNvPr id="2" name="TextBox 1">
            <a:extLst>
              <a:ext uri="{FF2B5EF4-FFF2-40B4-BE49-F238E27FC236}">
                <a16:creationId xmlns:a16="http://schemas.microsoft.com/office/drawing/2014/main" id="{EC2C197F-0469-314B-9D65-6798A73744EC}"/>
              </a:ext>
            </a:extLst>
          </p:cNvPr>
          <p:cNvSpPr txBox="1"/>
          <p:nvPr/>
        </p:nvSpPr>
        <p:spPr>
          <a:xfrm>
            <a:off x="88342" y="739961"/>
            <a:ext cx="11798858" cy="1384995"/>
          </a:xfrm>
          <a:prstGeom prst="rect">
            <a:avLst/>
          </a:prstGeom>
          <a:noFill/>
        </p:spPr>
        <p:txBody>
          <a:bodyPr wrap="square" rtlCol="0">
            <a:spAutoFit/>
          </a:bodyPr>
          <a:lstStyle/>
          <a:p>
            <a:r>
              <a:rPr lang="en-US" sz="1400" dirty="0"/>
              <a:t>1. </a:t>
            </a:r>
            <a:r>
              <a:rPr lang="en-US" sz="1400" kern="0" dirty="0">
                <a:solidFill>
                  <a:srgbClr val="000000"/>
                </a:solidFill>
                <a:effectLst/>
                <a:ea typeface="Aptos" panose="020B0004020202020204" pitchFamily="34" charset="0"/>
              </a:rPr>
              <a:t>“The altitude power is lost tends to be the single parameter that pilots use when assessing whether to turn back.  Many have a number of 800 feet in their hip pocket as the decision point for turnback.  This unfortunately is a very unreliable parameter for decision making.   The </a:t>
            </a:r>
            <a:r>
              <a:rPr lang="en-US" sz="1400" i="1" kern="0" dirty="0">
                <a:solidFill>
                  <a:srgbClr val="000000"/>
                </a:solidFill>
                <a:effectLst/>
                <a:ea typeface="Aptos" panose="020B0004020202020204" pitchFamily="34" charset="0"/>
              </a:rPr>
              <a:t>location of the aircraft relative to the runway when passing a target altitude </a:t>
            </a:r>
            <a:r>
              <a:rPr lang="en-US" sz="1400" kern="0" dirty="0">
                <a:solidFill>
                  <a:srgbClr val="000000"/>
                </a:solidFill>
                <a:effectLst/>
                <a:ea typeface="Aptos" panose="020B0004020202020204" pitchFamily="34" charset="0"/>
              </a:rPr>
              <a:t>can vary greatly with changing density altitude, gross weight and winds.   Arriving at 800 feet AGL on one day could be coincident with the aircraft passing one mile off the end of the runway.  Yet on a day with higher density altitude and higher gross weights, the aircraft might be nearly 2 miles from the runway when reaching 800 feet.  The rest of the flight path would be dramatically different between these two situations.   When someone asks what your turnback altitude is, your answer should be “that depends.”   And it depends on each of the factors being demonstrated in this video. </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sp>
        <p:nvSpPr>
          <p:cNvPr id="30" name="TextBox 29">
            <a:extLst>
              <a:ext uri="{FF2B5EF4-FFF2-40B4-BE49-F238E27FC236}">
                <a16:creationId xmlns:a16="http://schemas.microsoft.com/office/drawing/2014/main" id="{04653206-E717-0995-AD16-DC537DE62609}"/>
              </a:ext>
            </a:extLst>
          </p:cNvPr>
          <p:cNvSpPr txBox="1"/>
          <p:nvPr/>
        </p:nvSpPr>
        <p:spPr>
          <a:xfrm>
            <a:off x="5364229" y="3906253"/>
            <a:ext cx="2523252" cy="1200329"/>
          </a:xfrm>
          <a:prstGeom prst="rect">
            <a:avLst/>
          </a:prstGeom>
          <a:noFill/>
        </p:spPr>
        <p:txBody>
          <a:bodyPr wrap="square" rtlCol="0">
            <a:spAutoFit/>
          </a:bodyPr>
          <a:lstStyle/>
          <a:p>
            <a:r>
              <a:rPr lang="en-US" sz="1200" dirty="0">
                <a:solidFill>
                  <a:srgbClr val="0070C0"/>
                </a:solidFill>
              </a:rPr>
              <a:t>Move the point that shows altitude that power is lost away from the field and back towards the field, while leaving all other segments the same, to show how touchdown point moves left or right accordingly</a:t>
            </a:r>
          </a:p>
        </p:txBody>
      </p:sp>
      <p:cxnSp>
        <p:nvCxnSpPr>
          <p:cNvPr id="24" name="Straight Arrow Connector 23">
            <a:extLst>
              <a:ext uri="{FF2B5EF4-FFF2-40B4-BE49-F238E27FC236}">
                <a16:creationId xmlns:a16="http://schemas.microsoft.com/office/drawing/2014/main" id="{36517F21-B801-00B6-1EDE-9AD9D2E08164}"/>
              </a:ext>
            </a:extLst>
          </p:cNvPr>
          <p:cNvCxnSpPr>
            <a:cxnSpLocks/>
            <a:endCxn id="172" idx="1"/>
          </p:cNvCxnSpPr>
          <p:nvPr/>
        </p:nvCxnSpPr>
        <p:spPr>
          <a:xfrm flipV="1">
            <a:off x="5718903" y="2735548"/>
            <a:ext cx="1087940" cy="313900"/>
          </a:xfrm>
          <a:prstGeom prst="straightConnector1">
            <a:avLst/>
          </a:prstGeom>
          <a:ln w="15875">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 name="Connector: Curved 12">
            <a:extLst>
              <a:ext uri="{FF2B5EF4-FFF2-40B4-BE49-F238E27FC236}">
                <a16:creationId xmlns:a16="http://schemas.microsoft.com/office/drawing/2014/main" id="{9D7E247E-A7DE-8A08-81BE-E61177678AB8}"/>
              </a:ext>
            </a:extLst>
          </p:cNvPr>
          <p:cNvCxnSpPr>
            <a:cxnSpLocks/>
          </p:cNvCxnSpPr>
          <p:nvPr/>
        </p:nvCxnSpPr>
        <p:spPr>
          <a:xfrm rot="10800000" flipV="1">
            <a:off x="4635818" y="4505504"/>
            <a:ext cx="732738" cy="267848"/>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D4630375-78A7-D569-B450-285FF35D0C84}"/>
              </a:ext>
            </a:extLst>
          </p:cNvPr>
          <p:cNvCxnSpPr>
            <a:cxnSpLocks/>
          </p:cNvCxnSpPr>
          <p:nvPr/>
        </p:nvCxnSpPr>
        <p:spPr>
          <a:xfrm rot="5400000" flipH="1" flipV="1">
            <a:off x="5544449" y="3233955"/>
            <a:ext cx="1034007" cy="426706"/>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E5A6683-B66B-ECDA-9C68-B8F7C0872B5D}"/>
              </a:ext>
            </a:extLst>
          </p:cNvPr>
          <p:cNvCxnSpPr>
            <a:cxnSpLocks/>
          </p:cNvCxnSpPr>
          <p:nvPr/>
        </p:nvCxnSpPr>
        <p:spPr>
          <a:xfrm flipV="1">
            <a:off x="3555254" y="4749958"/>
            <a:ext cx="1019857" cy="422489"/>
          </a:xfrm>
          <a:prstGeom prst="straightConnector1">
            <a:avLst/>
          </a:prstGeom>
          <a:ln w="15875">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208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761543" y="165920"/>
            <a:ext cx="2192267" cy="307777"/>
          </a:xfrm>
          <a:prstGeom prst="rect">
            <a:avLst/>
          </a:prstGeom>
          <a:noFill/>
        </p:spPr>
        <p:txBody>
          <a:bodyPr wrap="none" rtlCol="0">
            <a:spAutoFit/>
          </a:bodyPr>
          <a:lstStyle/>
          <a:p>
            <a:r>
              <a:rPr lang="en-US" sz="1400" b="1" dirty="0">
                <a:solidFill>
                  <a:schemeClr val="bg1"/>
                </a:solidFill>
              </a:rPr>
              <a:t>Startle Duration and Shape</a:t>
            </a:r>
          </a:p>
        </p:txBody>
      </p:sp>
      <p:sp>
        <p:nvSpPr>
          <p:cNvPr id="2" name="TextBox 1">
            <a:extLst>
              <a:ext uri="{FF2B5EF4-FFF2-40B4-BE49-F238E27FC236}">
                <a16:creationId xmlns:a16="http://schemas.microsoft.com/office/drawing/2014/main" id="{EC2C197F-0469-314B-9D65-6798A73744EC}"/>
              </a:ext>
            </a:extLst>
          </p:cNvPr>
          <p:cNvSpPr txBox="1"/>
          <p:nvPr/>
        </p:nvSpPr>
        <p:spPr>
          <a:xfrm>
            <a:off x="88341" y="739961"/>
            <a:ext cx="12103657" cy="1169551"/>
          </a:xfrm>
          <a:prstGeom prst="rect">
            <a:avLst/>
          </a:prstGeom>
          <a:noFill/>
        </p:spPr>
        <p:txBody>
          <a:bodyPr wrap="square" rtlCol="0">
            <a:spAutoFit/>
          </a:bodyPr>
          <a:lstStyle/>
          <a:p>
            <a:r>
              <a:rPr lang="en-US" sz="1400" dirty="0"/>
              <a:t>1. </a:t>
            </a:r>
            <a:r>
              <a:rPr lang="en-US" sz="1400" dirty="0">
                <a:solidFill>
                  <a:srgbClr val="000000"/>
                </a:solidFill>
                <a:effectLst/>
                <a:ea typeface="Aptos" panose="020B0004020202020204" pitchFamily="34" charset="0"/>
                <a:cs typeface="Times New Roman" panose="02020603050405020304" pitchFamily="18" charset="0"/>
              </a:rPr>
              <a:t>“The startle upon experiencing an engine failure can dramatically </a:t>
            </a:r>
            <a:r>
              <a:rPr lang="en-US" sz="1400" dirty="0">
                <a:solidFill>
                  <a:srgbClr val="000000"/>
                </a:solidFill>
                <a:ea typeface="Aptos" panose="020B0004020202020204" pitchFamily="34" charset="0"/>
                <a:cs typeface="Times New Roman" panose="02020603050405020304" pitchFamily="18" charset="0"/>
              </a:rPr>
              <a:t>a</a:t>
            </a:r>
            <a:r>
              <a:rPr lang="en-US" sz="1400" dirty="0">
                <a:solidFill>
                  <a:srgbClr val="000000"/>
                </a:solidFill>
                <a:effectLst/>
                <a:ea typeface="Aptos" panose="020B0004020202020204" pitchFamily="34" charset="0"/>
                <a:cs typeface="Times New Roman" panose="02020603050405020304" pitchFamily="18" charset="0"/>
              </a:rPr>
              <a:t>ffect the result.  Fortunately, good training and consistent use of a pre-takeoff briefing can prepare you to make the correct response and minimize the startle effect.   In simple terms, an aircraft climbing at 60 knots ground speed is moving away from the runway at one mile per minute.  A ten second startle places the aircraft an additional 1,000 feet downrange from the runway as compared to an aircraft that begins the turn immediately.  Also, if no action is taken to control the vertical flight path, the aircraft might be far off the target speed for the turn.  Too fast results in excessive altitude loss, while failing to lower the nose to the proper power off glide angle could result in a stall.  </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cxnSp>
        <p:nvCxnSpPr>
          <p:cNvPr id="17" name="Connector: Curved 16">
            <a:extLst>
              <a:ext uri="{FF2B5EF4-FFF2-40B4-BE49-F238E27FC236}">
                <a16:creationId xmlns:a16="http://schemas.microsoft.com/office/drawing/2014/main" id="{D4630375-78A7-D569-B450-285FF35D0C84}"/>
              </a:ext>
            </a:extLst>
          </p:cNvPr>
          <p:cNvCxnSpPr>
            <a:cxnSpLocks/>
          </p:cNvCxnSpPr>
          <p:nvPr/>
        </p:nvCxnSpPr>
        <p:spPr>
          <a:xfrm rot="10800000">
            <a:off x="6274805" y="2930305"/>
            <a:ext cx="1107196" cy="301406"/>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6AF383A7-BB2E-926D-A2A0-A4E0E0892A8C}"/>
              </a:ext>
            </a:extLst>
          </p:cNvPr>
          <p:cNvSpPr/>
          <p:nvPr/>
        </p:nvSpPr>
        <p:spPr>
          <a:xfrm>
            <a:off x="5784749" y="2449081"/>
            <a:ext cx="942639" cy="657390"/>
          </a:xfrm>
          <a:prstGeom prst="ellipse">
            <a:avLst/>
          </a:prstGeom>
          <a:no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11CEF72-C671-A8EB-CD21-855CF10B3179}"/>
              </a:ext>
            </a:extLst>
          </p:cNvPr>
          <p:cNvPicPr>
            <a:picLocks noChangeAspect="1"/>
          </p:cNvPicPr>
          <p:nvPr/>
        </p:nvPicPr>
        <p:blipFill rotWithShape="1">
          <a:blip r:embed="rId3"/>
          <a:srcRect l="8191" t="9129" r="43150" b="5976"/>
          <a:stretch/>
        </p:blipFill>
        <p:spPr>
          <a:xfrm>
            <a:off x="6063922" y="4472224"/>
            <a:ext cx="3958025" cy="1639057"/>
          </a:xfrm>
          <a:prstGeom prst="rect">
            <a:avLst/>
          </a:prstGeom>
        </p:spPr>
      </p:pic>
      <p:sp>
        <p:nvSpPr>
          <p:cNvPr id="30" name="TextBox 29">
            <a:extLst>
              <a:ext uri="{FF2B5EF4-FFF2-40B4-BE49-F238E27FC236}">
                <a16:creationId xmlns:a16="http://schemas.microsoft.com/office/drawing/2014/main" id="{04653206-E717-0995-AD16-DC537DE62609}"/>
              </a:ext>
            </a:extLst>
          </p:cNvPr>
          <p:cNvSpPr txBox="1"/>
          <p:nvPr/>
        </p:nvSpPr>
        <p:spPr>
          <a:xfrm>
            <a:off x="7303234" y="3015030"/>
            <a:ext cx="3708053" cy="1384995"/>
          </a:xfrm>
          <a:prstGeom prst="rect">
            <a:avLst/>
          </a:prstGeom>
          <a:noFill/>
        </p:spPr>
        <p:txBody>
          <a:bodyPr wrap="square" rtlCol="0">
            <a:spAutoFit/>
          </a:bodyPr>
          <a:lstStyle/>
          <a:p>
            <a:r>
              <a:rPr lang="en-US" sz="1200" dirty="0">
                <a:solidFill>
                  <a:srgbClr val="0070C0"/>
                </a:solidFill>
              </a:rPr>
              <a:t>During the narration zoom in on this segment like below and show it stretching in animation to represent an extended startle and then show it shrink very small to reflect an immediate reaction with no startle delay.  Similarly show the flight path descending and climbing above the turn arc to follow the narrative about the vertical flight path </a:t>
            </a:r>
          </a:p>
        </p:txBody>
      </p:sp>
      <p:cxnSp>
        <p:nvCxnSpPr>
          <p:cNvPr id="11" name="Straight Arrow Connector 10">
            <a:extLst>
              <a:ext uri="{FF2B5EF4-FFF2-40B4-BE49-F238E27FC236}">
                <a16:creationId xmlns:a16="http://schemas.microsoft.com/office/drawing/2014/main" id="{F4553615-1668-E50E-9DBA-2CE12E5CB258}"/>
              </a:ext>
            </a:extLst>
          </p:cNvPr>
          <p:cNvCxnSpPr>
            <a:cxnSpLocks/>
          </p:cNvCxnSpPr>
          <p:nvPr/>
        </p:nvCxnSpPr>
        <p:spPr>
          <a:xfrm flipV="1">
            <a:off x="7606995" y="5298262"/>
            <a:ext cx="1317549" cy="956234"/>
          </a:xfrm>
          <a:prstGeom prst="straightConnector1">
            <a:avLst/>
          </a:prstGeom>
          <a:ln w="15875">
            <a:prstDash val="dash"/>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D3BE5162-F87F-627F-CCC0-769271CF9368}"/>
              </a:ext>
            </a:extLst>
          </p:cNvPr>
          <p:cNvSpPr txBox="1"/>
          <p:nvPr/>
        </p:nvSpPr>
        <p:spPr>
          <a:xfrm>
            <a:off x="9195681" y="5195758"/>
            <a:ext cx="113528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Tree>
    <p:extLst>
      <p:ext uri="{BB962C8B-B14F-4D97-AF65-F5344CB8AC3E}">
        <p14:creationId xmlns:p14="http://schemas.microsoft.com/office/powerpoint/2010/main" val="3316657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400233" y="176432"/>
            <a:ext cx="3022174" cy="307777"/>
          </a:xfrm>
          <a:prstGeom prst="rect">
            <a:avLst/>
          </a:prstGeom>
          <a:noFill/>
        </p:spPr>
        <p:txBody>
          <a:bodyPr wrap="none" rtlCol="0">
            <a:spAutoFit/>
          </a:bodyPr>
          <a:lstStyle/>
          <a:p>
            <a:r>
              <a:rPr lang="en-US" sz="1400" b="1" dirty="0">
                <a:solidFill>
                  <a:schemeClr val="bg1"/>
                </a:solidFill>
              </a:rPr>
              <a:t>The Turn – Diameter and Altitude Lost</a:t>
            </a:r>
          </a:p>
        </p:txBody>
      </p:sp>
      <p:sp>
        <p:nvSpPr>
          <p:cNvPr id="2" name="TextBox 1">
            <a:extLst>
              <a:ext uri="{FF2B5EF4-FFF2-40B4-BE49-F238E27FC236}">
                <a16:creationId xmlns:a16="http://schemas.microsoft.com/office/drawing/2014/main" id="{EC2C197F-0469-314B-9D65-6798A73744EC}"/>
              </a:ext>
            </a:extLst>
          </p:cNvPr>
          <p:cNvSpPr txBox="1"/>
          <p:nvPr/>
        </p:nvSpPr>
        <p:spPr>
          <a:xfrm>
            <a:off x="-1" y="784388"/>
            <a:ext cx="12191999" cy="1384995"/>
          </a:xfrm>
          <a:prstGeom prst="rect">
            <a:avLst/>
          </a:prstGeom>
          <a:noFill/>
        </p:spPr>
        <p:txBody>
          <a:bodyPr wrap="square" rtlCol="0">
            <a:spAutoFit/>
          </a:bodyPr>
          <a:lstStyle/>
          <a:p>
            <a:pPr marL="342900" indent="-342900">
              <a:buAutoNum type="arabicPeriod"/>
            </a:pPr>
            <a:r>
              <a:rPr lang="en-US" sz="1400" kern="0" dirty="0">
                <a:solidFill>
                  <a:srgbClr val="000000"/>
                </a:solidFill>
                <a:effectLst/>
                <a:ea typeface="Aptos" panose="020B0004020202020204" pitchFamily="34" charset="0"/>
              </a:rPr>
              <a:t>“In the turning maneuver the objective is not maximum glide range but minimum altitude loss and minimum turn diameter, which requires slowest reasonable speed at the optimum bank.  While turning it is critical to avoid stall.  As the ground comes closer there can be a powerful incentive to pull back, which can induce a stall.  Fly the proper attitude to maintain a safe stall margin.   Mathematical analysis shows 45 degrees is the optimum bank angle.  Targeting 35 – 45 degrees is good pilot technique. Less than 30 degrees results in a slow turn rate and the aircraft drifting down range while losing altitude.  Greater than 50 degrees results in excessive sink and altitude loss while turning.  Using the aircraft’s normal approach speed (Vref) provides sufficient stall margin at 45 degrees of bank, so Vref is a better speed than </a:t>
            </a:r>
            <a:r>
              <a:rPr lang="en-US" sz="1400" kern="0" dirty="0" err="1">
                <a:solidFill>
                  <a:srgbClr val="000000"/>
                </a:solidFill>
                <a:effectLst/>
                <a:ea typeface="Aptos" panose="020B0004020202020204" pitchFamily="34" charset="0"/>
              </a:rPr>
              <a:t>Vglide</a:t>
            </a:r>
            <a:r>
              <a:rPr lang="en-US" sz="1400" kern="0" dirty="0">
                <a:solidFill>
                  <a:srgbClr val="000000"/>
                </a:solidFill>
                <a:effectLst/>
                <a:ea typeface="Aptos" panose="020B0004020202020204" pitchFamily="34" charset="0"/>
              </a:rPr>
              <a:t>.   You should train idle power steep turns at a safe altitude to gain proficiency in the maneuver. </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cxnSp>
        <p:nvCxnSpPr>
          <p:cNvPr id="17" name="Connector: Curved 16">
            <a:extLst>
              <a:ext uri="{FF2B5EF4-FFF2-40B4-BE49-F238E27FC236}">
                <a16:creationId xmlns:a16="http://schemas.microsoft.com/office/drawing/2014/main" id="{D4630375-78A7-D569-B450-285FF35D0C84}"/>
              </a:ext>
            </a:extLst>
          </p:cNvPr>
          <p:cNvCxnSpPr>
            <a:cxnSpLocks/>
          </p:cNvCxnSpPr>
          <p:nvPr/>
        </p:nvCxnSpPr>
        <p:spPr>
          <a:xfrm>
            <a:off x="3381901" y="2466300"/>
            <a:ext cx="1740271" cy="231620"/>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94853524-C075-759D-76A0-7E85E325C19E}"/>
              </a:ext>
            </a:extLst>
          </p:cNvPr>
          <p:cNvGrpSpPr/>
          <p:nvPr/>
        </p:nvGrpSpPr>
        <p:grpSpPr>
          <a:xfrm>
            <a:off x="1658041" y="2090666"/>
            <a:ext cx="6372436" cy="4098933"/>
            <a:chOff x="1678133" y="2059200"/>
            <a:chExt cx="6372436" cy="4098933"/>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4" name="Oval 3">
              <a:extLst>
                <a:ext uri="{FF2B5EF4-FFF2-40B4-BE49-F238E27FC236}">
                  <a16:creationId xmlns:a16="http://schemas.microsoft.com/office/drawing/2014/main" id="{6AF383A7-BB2E-926D-A2A0-A4E0E0892A8C}"/>
                </a:ext>
              </a:extLst>
            </p:cNvPr>
            <p:cNvSpPr/>
            <p:nvPr/>
          </p:nvSpPr>
          <p:spPr>
            <a:xfrm>
              <a:off x="5400231" y="2301482"/>
              <a:ext cx="1327158" cy="804989"/>
            </a:xfrm>
            <a:prstGeom prst="ellipse">
              <a:avLst/>
            </a:prstGeom>
            <a:no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04653206-E717-0995-AD16-DC537DE62609}"/>
              </a:ext>
            </a:extLst>
          </p:cNvPr>
          <p:cNvSpPr txBox="1"/>
          <p:nvPr/>
        </p:nvSpPr>
        <p:spPr>
          <a:xfrm>
            <a:off x="232142" y="2484203"/>
            <a:ext cx="3708053" cy="461665"/>
          </a:xfrm>
          <a:prstGeom prst="rect">
            <a:avLst/>
          </a:prstGeom>
          <a:noFill/>
        </p:spPr>
        <p:txBody>
          <a:bodyPr wrap="square" rtlCol="0">
            <a:spAutoFit/>
          </a:bodyPr>
          <a:lstStyle/>
          <a:p>
            <a:r>
              <a:rPr lang="en-US" sz="1200" dirty="0">
                <a:solidFill>
                  <a:srgbClr val="0070C0"/>
                </a:solidFill>
              </a:rPr>
              <a:t>During the narration zoom in on this segment to show the effects described in 2.</a:t>
            </a:r>
          </a:p>
        </p:txBody>
      </p:sp>
      <p:grpSp>
        <p:nvGrpSpPr>
          <p:cNvPr id="23" name="Group 22">
            <a:extLst>
              <a:ext uri="{FF2B5EF4-FFF2-40B4-BE49-F238E27FC236}">
                <a16:creationId xmlns:a16="http://schemas.microsoft.com/office/drawing/2014/main" id="{3BCDF18C-24A4-73FF-BA0E-D56E41798847}"/>
              </a:ext>
            </a:extLst>
          </p:cNvPr>
          <p:cNvGrpSpPr/>
          <p:nvPr/>
        </p:nvGrpSpPr>
        <p:grpSpPr>
          <a:xfrm>
            <a:off x="9344583" y="2289641"/>
            <a:ext cx="2564115" cy="2202183"/>
            <a:chOff x="9344583" y="2289641"/>
            <a:chExt cx="2564115" cy="2202183"/>
          </a:xfrm>
        </p:grpSpPr>
        <p:pic>
          <p:nvPicPr>
            <p:cNvPr id="7" name="Picture 6">
              <a:extLst>
                <a:ext uri="{FF2B5EF4-FFF2-40B4-BE49-F238E27FC236}">
                  <a16:creationId xmlns:a16="http://schemas.microsoft.com/office/drawing/2014/main" id="{2DD52C10-A6AA-889A-2526-143991334643}"/>
                </a:ext>
              </a:extLst>
            </p:cNvPr>
            <p:cNvPicPr>
              <a:picLocks noChangeAspect="1"/>
            </p:cNvPicPr>
            <p:nvPr/>
          </p:nvPicPr>
          <p:blipFill>
            <a:blip r:embed="rId3"/>
            <a:stretch>
              <a:fillRect/>
            </a:stretch>
          </p:blipFill>
          <p:spPr>
            <a:xfrm>
              <a:off x="9344583" y="2289641"/>
              <a:ext cx="2564115" cy="2202183"/>
            </a:xfrm>
            <a:prstGeom prst="rect">
              <a:avLst/>
            </a:prstGeom>
          </p:spPr>
        </p:pic>
        <p:sp>
          <p:nvSpPr>
            <p:cNvPr id="18" name="Freeform: Shape 17">
              <a:extLst>
                <a:ext uri="{FF2B5EF4-FFF2-40B4-BE49-F238E27FC236}">
                  <a16:creationId xmlns:a16="http://schemas.microsoft.com/office/drawing/2014/main" id="{FF3BB91B-7C43-2EE6-059F-614C142539B9}"/>
                </a:ext>
              </a:extLst>
            </p:cNvPr>
            <p:cNvSpPr/>
            <p:nvPr/>
          </p:nvSpPr>
          <p:spPr>
            <a:xfrm>
              <a:off x="9375670" y="2302526"/>
              <a:ext cx="1118665" cy="858237"/>
            </a:xfrm>
            <a:custGeom>
              <a:avLst/>
              <a:gdLst>
                <a:gd name="connsiteX0" fmla="*/ 1118665 w 1118665"/>
                <a:gd name="connsiteY0" fmla="*/ 249288 h 858237"/>
                <a:gd name="connsiteX1" fmla="*/ 629567 w 1118665"/>
                <a:gd name="connsiteY1" fmla="*/ 36637 h 858237"/>
                <a:gd name="connsiteX2" fmla="*/ 395651 w 1118665"/>
                <a:gd name="connsiteY2" fmla="*/ 4739 h 858237"/>
                <a:gd name="connsiteX3" fmla="*/ 214897 w 1118665"/>
                <a:gd name="connsiteY3" fmla="*/ 89800 h 858237"/>
                <a:gd name="connsiteX4" fmla="*/ 76674 w 1118665"/>
                <a:gd name="connsiteY4" fmla="*/ 238655 h 858237"/>
                <a:gd name="connsiteX5" fmla="*/ 2246 w 1118665"/>
                <a:gd name="connsiteY5" fmla="*/ 536367 h 858237"/>
                <a:gd name="connsiteX6" fmla="*/ 23511 w 1118665"/>
                <a:gd name="connsiteY6" fmla="*/ 749018 h 858237"/>
                <a:gd name="connsiteX7" fmla="*/ 66042 w 1118665"/>
                <a:gd name="connsiteY7" fmla="*/ 844711 h 858237"/>
                <a:gd name="connsiteX8" fmla="*/ 66042 w 1118665"/>
                <a:gd name="connsiteY8" fmla="*/ 855344 h 85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18665" h="858237">
                  <a:moveTo>
                    <a:pt x="1118665" y="249288"/>
                  </a:moveTo>
                  <a:cubicBezTo>
                    <a:pt x="934367" y="163341"/>
                    <a:pt x="750069" y="77395"/>
                    <a:pt x="629567" y="36637"/>
                  </a:cubicBezTo>
                  <a:cubicBezTo>
                    <a:pt x="509065" y="-4121"/>
                    <a:pt x="464763" y="-4122"/>
                    <a:pt x="395651" y="4739"/>
                  </a:cubicBezTo>
                  <a:cubicBezTo>
                    <a:pt x="326539" y="13599"/>
                    <a:pt x="268060" y="50814"/>
                    <a:pt x="214897" y="89800"/>
                  </a:cubicBezTo>
                  <a:cubicBezTo>
                    <a:pt x="161734" y="128786"/>
                    <a:pt x="112116" y="164227"/>
                    <a:pt x="76674" y="238655"/>
                  </a:cubicBezTo>
                  <a:cubicBezTo>
                    <a:pt x="41232" y="313083"/>
                    <a:pt x="11106" y="451307"/>
                    <a:pt x="2246" y="536367"/>
                  </a:cubicBezTo>
                  <a:cubicBezTo>
                    <a:pt x="-6614" y="621427"/>
                    <a:pt x="12878" y="697627"/>
                    <a:pt x="23511" y="749018"/>
                  </a:cubicBezTo>
                  <a:cubicBezTo>
                    <a:pt x="34144" y="800409"/>
                    <a:pt x="66042" y="844711"/>
                    <a:pt x="66042" y="844711"/>
                  </a:cubicBezTo>
                  <a:cubicBezTo>
                    <a:pt x="73130" y="862432"/>
                    <a:pt x="69586" y="858888"/>
                    <a:pt x="66042" y="855344"/>
                  </a:cubicBezTo>
                </a:path>
              </a:pathLst>
            </a:custGeom>
            <a:noFill/>
            <a:ln w="22225">
              <a:prstDash val="sysDash"/>
              <a:tailEnd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3FCA3C84-A280-8BB2-BF06-3934E689574C}"/>
              </a:ext>
            </a:extLst>
          </p:cNvPr>
          <p:cNvGrpSpPr/>
          <p:nvPr/>
        </p:nvGrpSpPr>
        <p:grpSpPr>
          <a:xfrm>
            <a:off x="6446949" y="5356408"/>
            <a:ext cx="3057072" cy="1265964"/>
            <a:chOff x="6446949" y="5356408"/>
            <a:chExt cx="3057072" cy="1265964"/>
          </a:xfrm>
        </p:grpSpPr>
        <p:pic>
          <p:nvPicPr>
            <p:cNvPr id="15" name="Picture 14">
              <a:extLst>
                <a:ext uri="{FF2B5EF4-FFF2-40B4-BE49-F238E27FC236}">
                  <a16:creationId xmlns:a16="http://schemas.microsoft.com/office/drawing/2014/main" id="{3DCAE9A0-AA3B-773A-084A-EB3FA7A6DAB9}"/>
                </a:ext>
              </a:extLst>
            </p:cNvPr>
            <p:cNvPicPr>
              <a:picLocks noChangeAspect="1"/>
            </p:cNvPicPr>
            <p:nvPr/>
          </p:nvPicPr>
          <p:blipFill rotWithShape="1">
            <a:blip r:embed="rId4"/>
            <a:srcRect l="8191" t="9129" r="43150" b="5976"/>
            <a:stretch/>
          </p:blipFill>
          <p:spPr>
            <a:xfrm>
              <a:off x="6446949" y="5356408"/>
              <a:ext cx="3057072" cy="1265964"/>
            </a:xfrm>
            <a:prstGeom prst="rect">
              <a:avLst/>
            </a:prstGeom>
          </p:spPr>
        </p:pic>
        <p:sp>
          <p:nvSpPr>
            <p:cNvPr id="20" name="Freeform: Shape 19">
              <a:extLst>
                <a:ext uri="{FF2B5EF4-FFF2-40B4-BE49-F238E27FC236}">
                  <a16:creationId xmlns:a16="http://schemas.microsoft.com/office/drawing/2014/main" id="{BF84ADA5-BCA2-C0CB-C9DC-2F5B86A3D2CE}"/>
                </a:ext>
              </a:extLst>
            </p:cNvPr>
            <p:cNvSpPr/>
            <p:nvPr/>
          </p:nvSpPr>
          <p:spPr>
            <a:xfrm>
              <a:off x="6628349" y="5644767"/>
              <a:ext cx="1648046" cy="436377"/>
            </a:xfrm>
            <a:custGeom>
              <a:avLst/>
              <a:gdLst>
                <a:gd name="connsiteX0" fmla="*/ 1648046 w 1648046"/>
                <a:gd name="connsiteY0" fmla="*/ 223726 h 436377"/>
                <a:gd name="connsiteX1" fmla="*/ 1616149 w 1648046"/>
                <a:gd name="connsiteY1" fmla="*/ 159931 h 436377"/>
                <a:gd name="connsiteX2" fmla="*/ 1520456 w 1648046"/>
                <a:gd name="connsiteY2" fmla="*/ 106768 h 436377"/>
                <a:gd name="connsiteX3" fmla="*/ 1307805 w 1648046"/>
                <a:gd name="connsiteY3" fmla="*/ 21707 h 436377"/>
                <a:gd name="connsiteX4" fmla="*/ 1148316 w 1648046"/>
                <a:gd name="connsiteY4" fmla="*/ 442 h 436377"/>
                <a:gd name="connsiteX5" fmla="*/ 978195 w 1648046"/>
                <a:gd name="connsiteY5" fmla="*/ 11075 h 436377"/>
                <a:gd name="connsiteX6" fmla="*/ 776177 w 1648046"/>
                <a:gd name="connsiteY6" fmla="*/ 53605 h 436377"/>
                <a:gd name="connsiteX7" fmla="*/ 552893 w 1648046"/>
                <a:gd name="connsiteY7" fmla="*/ 106768 h 436377"/>
                <a:gd name="connsiteX8" fmla="*/ 372139 w 1648046"/>
                <a:gd name="connsiteY8" fmla="*/ 170563 h 436377"/>
                <a:gd name="connsiteX9" fmla="*/ 233916 w 1648046"/>
                <a:gd name="connsiteY9" fmla="*/ 266256 h 436377"/>
                <a:gd name="connsiteX10" fmla="*/ 106326 w 1648046"/>
                <a:gd name="connsiteY10" fmla="*/ 340684 h 436377"/>
                <a:gd name="connsiteX11" fmla="*/ 0 w 1648046"/>
                <a:gd name="connsiteY11" fmla="*/ 436377 h 436377"/>
                <a:gd name="connsiteX12" fmla="*/ 0 w 1648046"/>
                <a:gd name="connsiteY12" fmla="*/ 436377 h 436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48046" h="436377">
                  <a:moveTo>
                    <a:pt x="1648046" y="223726"/>
                  </a:moveTo>
                  <a:cubicBezTo>
                    <a:pt x="1642730" y="201575"/>
                    <a:pt x="1637414" y="179424"/>
                    <a:pt x="1616149" y="159931"/>
                  </a:cubicBezTo>
                  <a:cubicBezTo>
                    <a:pt x="1594884" y="140438"/>
                    <a:pt x="1571847" y="129805"/>
                    <a:pt x="1520456" y="106768"/>
                  </a:cubicBezTo>
                  <a:cubicBezTo>
                    <a:pt x="1469065" y="83731"/>
                    <a:pt x="1369828" y="39428"/>
                    <a:pt x="1307805" y="21707"/>
                  </a:cubicBezTo>
                  <a:cubicBezTo>
                    <a:pt x="1245782" y="3986"/>
                    <a:pt x="1203251" y="2214"/>
                    <a:pt x="1148316" y="442"/>
                  </a:cubicBezTo>
                  <a:cubicBezTo>
                    <a:pt x="1093381" y="-1330"/>
                    <a:pt x="1040218" y="2215"/>
                    <a:pt x="978195" y="11075"/>
                  </a:cubicBezTo>
                  <a:cubicBezTo>
                    <a:pt x="916172" y="19935"/>
                    <a:pt x="847061" y="37656"/>
                    <a:pt x="776177" y="53605"/>
                  </a:cubicBezTo>
                  <a:cubicBezTo>
                    <a:pt x="705293" y="69554"/>
                    <a:pt x="620233" y="87275"/>
                    <a:pt x="552893" y="106768"/>
                  </a:cubicBezTo>
                  <a:cubicBezTo>
                    <a:pt x="485553" y="126261"/>
                    <a:pt x="425302" y="143982"/>
                    <a:pt x="372139" y="170563"/>
                  </a:cubicBezTo>
                  <a:cubicBezTo>
                    <a:pt x="318976" y="197144"/>
                    <a:pt x="278218" y="237903"/>
                    <a:pt x="233916" y="266256"/>
                  </a:cubicBezTo>
                  <a:cubicBezTo>
                    <a:pt x="189614" y="294609"/>
                    <a:pt x="145312" y="312330"/>
                    <a:pt x="106326" y="340684"/>
                  </a:cubicBezTo>
                  <a:cubicBezTo>
                    <a:pt x="67340" y="369038"/>
                    <a:pt x="0" y="436377"/>
                    <a:pt x="0" y="436377"/>
                  </a:cubicBezTo>
                  <a:lnTo>
                    <a:pt x="0" y="436377"/>
                  </a:lnTo>
                </a:path>
              </a:pathLst>
            </a:cu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TextBox 20">
            <a:extLst>
              <a:ext uri="{FF2B5EF4-FFF2-40B4-BE49-F238E27FC236}">
                <a16:creationId xmlns:a16="http://schemas.microsoft.com/office/drawing/2014/main" id="{685A52DE-D8FD-6A95-B4AB-0837199B8501}"/>
              </a:ext>
            </a:extLst>
          </p:cNvPr>
          <p:cNvSpPr txBox="1"/>
          <p:nvPr/>
        </p:nvSpPr>
        <p:spPr>
          <a:xfrm>
            <a:off x="6754146" y="3590315"/>
            <a:ext cx="3997928" cy="1169551"/>
          </a:xfrm>
          <a:prstGeom prst="rect">
            <a:avLst/>
          </a:prstGeom>
          <a:noFill/>
        </p:spPr>
        <p:txBody>
          <a:bodyPr wrap="square" rtlCol="0">
            <a:spAutoFit/>
          </a:bodyPr>
          <a:lstStyle/>
          <a:p>
            <a:r>
              <a:rPr lang="en-US" sz="1400" dirty="0"/>
              <a:t>2. </a:t>
            </a:r>
            <a:r>
              <a:rPr lang="en-US" sz="1400" dirty="0">
                <a:solidFill>
                  <a:srgbClr val="000000"/>
                </a:solidFill>
                <a:effectLst/>
                <a:ea typeface="Aptos" panose="020B0004020202020204" pitchFamily="34" charset="0"/>
                <a:cs typeface="Times New Roman" panose="02020603050405020304" pitchFamily="18" charset="0"/>
              </a:rPr>
              <a:t>Flying the turn too fast or at too shallow a bank results in the flight paths shown by the dashed lines.   A shallow bank puts the aircraft further from the runway or excessive speed will finish the turn at a lower altitude.  </a:t>
            </a:r>
          </a:p>
        </p:txBody>
      </p:sp>
    </p:spTree>
    <p:extLst>
      <p:ext uri="{BB962C8B-B14F-4D97-AF65-F5344CB8AC3E}">
        <p14:creationId xmlns:p14="http://schemas.microsoft.com/office/powerpoint/2010/main" val="270179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2542967" y="2195149"/>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9034090" y="209016"/>
            <a:ext cx="1731500" cy="307777"/>
          </a:xfrm>
          <a:prstGeom prst="rect">
            <a:avLst/>
          </a:prstGeom>
          <a:noFill/>
        </p:spPr>
        <p:txBody>
          <a:bodyPr wrap="none" rtlCol="0">
            <a:spAutoFit/>
          </a:bodyPr>
          <a:lstStyle/>
          <a:p>
            <a:r>
              <a:rPr lang="en-US" sz="1400" b="1" dirty="0">
                <a:solidFill>
                  <a:schemeClr val="bg1"/>
                </a:solidFill>
              </a:rPr>
              <a:t>Glide Angle Segment</a:t>
            </a:r>
          </a:p>
        </p:txBody>
      </p:sp>
      <p:sp>
        <p:nvSpPr>
          <p:cNvPr id="2" name="TextBox 1">
            <a:extLst>
              <a:ext uri="{FF2B5EF4-FFF2-40B4-BE49-F238E27FC236}">
                <a16:creationId xmlns:a16="http://schemas.microsoft.com/office/drawing/2014/main" id="{EC2C197F-0469-314B-9D65-6798A73744EC}"/>
              </a:ext>
            </a:extLst>
          </p:cNvPr>
          <p:cNvSpPr txBox="1"/>
          <p:nvPr/>
        </p:nvSpPr>
        <p:spPr>
          <a:xfrm>
            <a:off x="292029" y="785391"/>
            <a:ext cx="11540306" cy="1169551"/>
          </a:xfrm>
          <a:prstGeom prst="rect">
            <a:avLst/>
          </a:prstGeom>
          <a:noFill/>
        </p:spPr>
        <p:txBody>
          <a:bodyPr wrap="square" rtlCol="0">
            <a:spAutoFit/>
          </a:bodyPr>
          <a:lstStyle/>
          <a:p>
            <a:r>
              <a:rPr lang="en-US" sz="1400" dirty="0"/>
              <a:t>1. </a:t>
            </a:r>
            <a:r>
              <a:rPr lang="en-US" sz="1400" dirty="0">
                <a:solidFill>
                  <a:srgbClr val="000000"/>
                </a:solidFill>
                <a:effectLst/>
                <a:ea typeface="Aptos" panose="020B0004020202020204" pitchFamily="34" charset="0"/>
                <a:cs typeface="Times New Roman" panose="02020603050405020304" pitchFamily="18" charset="0"/>
              </a:rPr>
              <a:t>After completing the turn, target best glide speed to reach the runway.  In some cases, the end of the turn might place the aircraft in a high energy situation where best glide may not be required.  In that case, use a slip as appropriate and remember that flying faster or slower than </a:t>
            </a:r>
            <a:r>
              <a:rPr lang="en-US" sz="1400" dirty="0" err="1">
                <a:solidFill>
                  <a:srgbClr val="000000"/>
                </a:solidFill>
                <a:effectLst/>
                <a:ea typeface="Aptos" panose="020B0004020202020204" pitchFamily="34" charset="0"/>
                <a:cs typeface="Times New Roman" panose="02020603050405020304" pitchFamily="18" charset="0"/>
              </a:rPr>
              <a:t>Vglide</a:t>
            </a:r>
            <a:r>
              <a:rPr lang="en-US" sz="1400" dirty="0">
                <a:solidFill>
                  <a:srgbClr val="000000"/>
                </a:solidFill>
                <a:effectLst/>
                <a:ea typeface="Aptos" panose="020B0004020202020204" pitchFamily="34" charset="0"/>
                <a:cs typeface="Times New Roman" panose="02020603050405020304" pitchFamily="18" charset="0"/>
              </a:rPr>
              <a:t> will shorten the glide range.   It is important to manage energy during the final portion of this leg to keep sufficient speed to flare without stalling.  Use flaps as appropriate to reduce stall speed. Glide angles can typically be twice as steep engine out resulting in greater speed </a:t>
            </a:r>
            <a:r>
              <a:rPr lang="en-US" sz="1400" dirty="0" err="1">
                <a:solidFill>
                  <a:srgbClr val="000000"/>
                </a:solidFill>
                <a:effectLst/>
                <a:ea typeface="Aptos" panose="020B0004020202020204" pitchFamily="34" charset="0"/>
                <a:cs typeface="Times New Roman" panose="02020603050405020304" pitchFamily="18" charset="0"/>
              </a:rPr>
              <a:t>bleedoff</a:t>
            </a:r>
            <a:r>
              <a:rPr lang="en-US" sz="1400" dirty="0">
                <a:solidFill>
                  <a:srgbClr val="000000"/>
                </a:solidFill>
                <a:effectLst/>
                <a:ea typeface="Aptos" panose="020B0004020202020204" pitchFamily="34" charset="0"/>
                <a:cs typeface="Times New Roman" panose="02020603050405020304" pitchFamily="18" charset="0"/>
              </a:rPr>
              <a:t> in your flare as compared to normal powered approaches. Also be aware of the effect of a tailwind during this segment and the higher ground speeds approaching touchdown.</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cxnSp>
        <p:nvCxnSpPr>
          <p:cNvPr id="17" name="Connector: Curved 16">
            <a:extLst>
              <a:ext uri="{FF2B5EF4-FFF2-40B4-BE49-F238E27FC236}">
                <a16:creationId xmlns:a16="http://schemas.microsoft.com/office/drawing/2014/main" id="{D4630375-78A7-D569-B450-285FF35D0C84}"/>
              </a:ext>
            </a:extLst>
          </p:cNvPr>
          <p:cNvCxnSpPr>
            <a:cxnSpLocks/>
          </p:cNvCxnSpPr>
          <p:nvPr/>
        </p:nvCxnSpPr>
        <p:spPr>
          <a:xfrm>
            <a:off x="3224371" y="3074602"/>
            <a:ext cx="1312915" cy="694689"/>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4653206-E717-0995-AD16-DC537DE62609}"/>
              </a:ext>
            </a:extLst>
          </p:cNvPr>
          <p:cNvSpPr txBox="1"/>
          <p:nvPr/>
        </p:nvSpPr>
        <p:spPr>
          <a:xfrm>
            <a:off x="135134" y="2234601"/>
            <a:ext cx="3708053" cy="830997"/>
          </a:xfrm>
          <a:prstGeom prst="rect">
            <a:avLst/>
          </a:prstGeom>
          <a:noFill/>
        </p:spPr>
        <p:txBody>
          <a:bodyPr wrap="square" rtlCol="0">
            <a:spAutoFit/>
          </a:bodyPr>
          <a:lstStyle/>
          <a:p>
            <a:r>
              <a:rPr lang="en-US" sz="1200" dirty="0">
                <a:solidFill>
                  <a:srgbClr val="0070C0"/>
                </a:solidFill>
              </a:rPr>
              <a:t>During the narration show how the glide angle line steepens and comes up short for both a faster and slower speed than Vg.   Increase the slope of the glide angle line to move the touchdown point to the right.</a:t>
            </a:r>
          </a:p>
        </p:txBody>
      </p:sp>
    </p:spTree>
    <p:extLst>
      <p:ext uri="{BB962C8B-B14F-4D97-AF65-F5344CB8AC3E}">
        <p14:creationId xmlns:p14="http://schemas.microsoft.com/office/powerpoint/2010/main" val="155380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9301A3C3-4D92-7D8F-9A95-B0EADA3A0539}"/>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F8108665-C838-0092-7D44-91A212A9B9ED}"/>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499D4DDF-9DD1-726A-772D-562E59C30293}"/>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C464A89-31BA-C8BB-830E-289895B020EF}"/>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1B344C41-756C-D227-16B5-07C4873BFFCD}"/>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618621DF-A76E-241F-BF64-6B61D2AE9501}"/>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685F84C9-F4B7-2236-758D-295D1A8287EB}"/>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5977C82F-7561-97AA-C923-67F72501D729}"/>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532DD02-4BD5-D335-BC26-A8A3D48E4201}"/>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81B38AE-204B-9974-083A-E99E16DFE7DD}"/>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6147DD3C-D3A3-D7B0-7A24-A04B9039A99F}"/>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9724B719-F507-10CD-E49A-3C7177886194}"/>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3A92E1A-B734-6F5E-C091-2D0641987808}"/>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D2094BED-1D3C-B703-65C1-DE0835E06CEA}"/>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C6E2E06F-6BB3-34B5-B2BF-FEA6915031CA}"/>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4F706F7D-3D5D-208F-6AEF-81035D0E8C8C}"/>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AD5D71FE-8398-977D-0B14-5826233AF657}"/>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5D8C582C-0808-1A6F-C061-0A504193796D}"/>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DC61CDFB-1CD7-6DF8-8DB8-FD81EA133BB7}"/>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50E2CBBF-0F91-21A7-864A-0A072BECA22D}"/>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CEAAE62D-783D-2638-B1D0-3C78E3549FAB}"/>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44C8934-3351-68A8-E502-0F66DE5976C5}"/>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4DD97100-46F2-9BEC-485F-DCA4F96D4863}"/>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5FCBF09-3DC3-1B95-8FB9-DCB7C8495B6C}"/>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D69E50FF-5474-19FA-2880-2E81F07E28A3}"/>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5ACDA83D-0D90-A9F6-3A8B-ED7B91831650}"/>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4AF834BA-E7D7-9AA5-3C46-DBA7C411E6FA}"/>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13DBA08A-F034-84B3-9117-5F05FB7CB444}"/>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AEF3459A-D926-F60E-E822-D1C560636075}"/>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3B1665F0-28F9-9809-F306-D57FCF7D3671}"/>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747E77DD-9975-152B-F3D6-08B0A561C947}"/>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178A6647-DDFB-F67A-7E22-918660610D0B}"/>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AA46859B-3A7A-B3E2-603A-047BA8B14D38}"/>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B40AEA6F-7203-7B6D-4AB9-B2D477D49B3D}"/>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476A6CB0-DE80-FD76-D63A-7AF43157BDCA}"/>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007D209-3C61-D2C9-FE9C-7867D3757026}"/>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22CC2026-7363-1645-4CE4-98E0564FD6F8}"/>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68E1678B-78F8-31E8-4605-F54F609E16BD}"/>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36F06B4C-556A-923F-3F2A-37A8033F7F81}"/>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BD5F8A5A-370D-8634-2BDC-30890AC46C68}"/>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CB5EB9CA-2BFB-803E-C4ED-D82DB0FE546C}"/>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560DB4BC-C83C-91B6-DEB0-F27E96324E7D}"/>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F60C895B-6A3F-6AEA-6BD7-7C1A103C5BEE}"/>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2A3FCBD0-85FC-BFFC-CE6C-D9D7BA708389}"/>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4595FC33-E05E-CA00-B9B2-D1A85B2AB67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D7914F4B-89DE-E66F-53BC-1810450F20B0}"/>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B1CE4062-EBFB-1D3F-BC3B-9DEAE2411413}"/>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2D9B1579-9656-CC1F-EA1F-0742AA9C1114}"/>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F3934D76-0660-934B-F5B7-0F74C02FF71B}"/>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F7DDED3E-91AA-D38F-4956-B0E044A8D715}"/>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95DF3886-D91D-C913-9572-ABE7487FE2EE}"/>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0168FC95-C4A2-D672-B49F-10AF7FFF709C}"/>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F8FE60F7-C8B2-7833-ED96-04DA43FCE562}"/>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44D50B65-4EA8-44E7-8DC2-8090C466B362}"/>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22B10684-802D-60DE-18CC-BEF48ED2E149}"/>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D7BD5D3-5BD0-FBE7-0702-39646DBF2885}"/>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37F64571-D355-26E9-DB41-560749D7CCFE}"/>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4D991263-C461-4DA7-9AE9-8563BBB8754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6B3F3C70-3C5D-26F2-45BB-71A0E24BD28B}"/>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AEED51C3-6036-13D7-3F41-F50DC7DA4504}"/>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A7216C23-BA3D-2B52-FC4B-8928E4A41641}"/>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19BDF13C-73DF-10DE-FA15-D961952F76CC}"/>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10F3B629-EFF2-C525-E0D7-1D4A909D3ED4}"/>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94E4042-15EF-5828-E329-6161ED2AA083}"/>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EC87429D-C659-5372-3C6B-E4F44437EC8D}"/>
              </a:ext>
            </a:extLst>
          </p:cNvPr>
          <p:cNvSpPr txBox="1"/>
          <p:nvPr/>
        </p:nvSpPr>
        <p:spPr>
          <a:xfrm>
            <a:off x="8610600" y="207721"/>
            <a:ext cx="2667782" cy="307777"/>
          </a:xfrm>
          <a:prstGeom prst="rect">
            <a:avLst/>
          </a:prstGeom>
          <a:noFill/>
        </p:spPr>
        <p:txBody>
          <a:bodyPr wrap="none" rtlCol="0">
            <a:spAutoFit/>
          </a:bodyPr>
          <a:lstStyle/>
          <a:p>
            <a:r>
              <a:rPr lang="en-US" sz="1400" b="1" dirty="0">
                <a:solidFill>
                  <a:schemeClr val="bg1"/>
                </a:solidFill>
              </a:rPr>
              <a:t>Final Turn to Align with Runway </a:t>
            </a:r>
          </a:p>
        </p:txBody>
      </p:sp>
      <p:sp>
        <p:nvSpPr>
          <p:cNvPr id="2" name="TextBox 1">
            <a:extLst>
              <a:ext uri="{FF2B5EF4-FFF2-40B4-BE49-F238E27FC236}">
                <a16:creationId xmlns:a16="http://schemas.microsoft.com/office/drawing/2014/main" id="{EC2C197F-0469-314B-9D65-6798A73744EC}"/>
              </a:ext>
            </a:extLst>
          </p:cNvPr>
          <p:cNvSpPr txBox="1"/>
          <p:nvPr/>
        </p:nvSpPr>
        <p:spPr>
          <a:xfrm>
            <a:off x="292029" y="785391"/>
            <a:ext cx="11540306" cy="1169551"/>
          </a:xfrm>
          <a:prstGeom prst="rect">
            <a:avLst/>
          </a:prstGeom>
          <a:noFill/>
        </p:spPr>
        <p:txBody>
          <a:bodyPr wrap="square" rtlCol="0">
            <a:spAutoFit/>
          </a:bodyPr>
          <a:lstStyle/>
          <a:p>
            <a:r>
              <a:rPr lang="en-US" sz="1400" dirty="0"/>
              <a:t>1. </a:t>
            </a:r>
            <a:r>
              <a:rPr lang="en-US" sz="1400" dirty="0">
                <a:solidFill>
                  <a:srgbClr val="000000"/>
                </a:solidFill>
                <a:effectLst/>
                <a:ea typeface="Aptos" panose="020B0004020202020204" pitchFamily="34" charset="0"/>
                <a:cs typeface="Times New Roman" panose="02020603050405020304" pitchFamily="18" charset="0"/>
              </a:rPr>
              <a:t>The turnback maneuver should not rollout on a base to  an extended final but rather angled in at the end of the runway or at an achievable touchdown aimpoint down the runway.  This minimizes the total distance flown.  As seen in the overhead enlarged view on the right, the dashed line results in further distance traveled and less than optimum result.   Also, from the geometry, it is obvious the maneuver is not a 180-degree turn, but closer to 210 - 240 degrees by aiming for the end of the runway.  Turning along the dashed line flight path results in a 270-degree turn followed by a 90-degree turn (360 total) which results in much more energy loss.  Such a turn could be appropriate in the case of a high energy situation at the end of the turnback.</a:t>
            </a:r>
            <a:endParaRPr lang="en-US" sz="1400" dirty="0"/>
          </a:p>
        </p:txBody>
      </p:sp>
      <p:sp>
        <p:nvSpPr>
          <p:cNvPr id="3" name="TextBox 2">
            <a:extLst>
              <a:ext uri="{FF2B5EF4-FFF2-40B4-BE49-F238E27FC236}">
                <a16:creationId xmlns:a16="http://schemas.microsoft.com/office/drawing/2014/main" id="{0C5A6108-7AE8-C9C1-34F1-67DA2FC035B3}"/>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cxnSp>
        <p:nvCxnSpPr>
          <p:cNvPr id="17" name="Connector: Curved 16">
            <a:extLst>
              <a:ext uri="{FF2B5EF4-FFF2-40B4-BE49-F238E27FC236}">
                <a16:creationId xmlns:a16="http://schemas.microsoft.com/office/drawing/2014/main" id="{D4630375-78A7-D569-B450-285FF35D0C84}"/>
              </a:ext>
            </a:extLst>
          </p:cNvPr>
          <p:cNvCxnSpPr>
            <a:cxnSpLocks/>
          </p:cNvCxnSpPr>
          <p:nvPr/>
        </p:nvCxnSpPr>
        <p:spPr>
          <a:xfrm>
            <a:off x="3224371" y="3074602"/>
            <a:ext cx="1312915" cy="694689"/>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4653206-E717-0995-AD16-DC537DE62609}"/>
              </a:ext>
            </a:extLst>
          </p:cNvPr>
          <p:cNvSpPr txBox="1"/>
          <p:nvPr/>
        </p:nvSpPr>
        <p:spPr>
          <a:xfrm>
            <a:off x="135134" y="2234601"/>
            <a:ext cx="3708053" cy="461665"/>
          </a:xfrm>
          <a:prstGeom prst="rect">
            <a:avLst/>
          </a:prstGeom>
          <a:noFill/>
        </p:spPr>
        <p:txBody>
          <a:bodyPr wrap="square" rtlCol="0">
            <a:spAutoFit/>
          </a:bodyPr>
          <a:lstStyle/>
          <a:p>
            <a:r>
              <a:rPr lang="en-US" sz="1200" dirty="0">
                <a:solidFill>
                  <a:srgbClr val="0070C0"/>
                </a:solidFill>
              </a:rPr>
              <a:t>During the narration zoom from the view on the left to the view on the right.</a:t>
            </a:r>
          </a:p>
        </p:txBody>
      </p:sp>
      <p:pic>
        <p:nvPicPr>
          <p:cNvPr id="4" name="Picture 3">
            <a:extLst>
              <a:ext uri="{FF2B5EF4-FFF2-40B4-BE49-F238E27FC236}">
                <a16:creationId xmlns:a16="http://schemas.microsoft.com/office/drawing/2014/main" id="{A6567EB1-0DB0-6536-BC78-6A77B535D2D9}"/>
              </a:ext>
            </a:extLst>
          </p:cNvPr>
          <p:cNvPicPr>
            <a:picLocks noChangeAspect="1"/>
          </p:cNvPicPr>
          <p:nvPr/>
        </p:nvPicPr>
        <p:blipFill>
          <a:blip r:embed="rId3"/>
          <a:stretch>
            <a:fillRect/>
          </a:stretch>
        </p:blipFill>
        <p:spPr>
          <a:xfrm>
            <a:off x="8522823" y="2289641"/>
            <a:ext cx="3385875" cy="2907949"/>
          </a:xfrm>
          <a:prstGeom prst="rect">
            <a:avLst/>
          </a:prstGeom>
        </p:spPr>
      </p:pic>
      <p:sp>
        <p:nvSpPr>
          <p:cNvPr id="7" name="Freeform: Shape 6">
            <a:extLst>
              <a:ext uri="{FF2B5EF4-FFF2-40B4-BE49-F238E27FC236}">
                <a16:creationId xmlns:a16="http://schemas.microsoft.com/office/drawing/2014/main" id="{4262D9D3-AA94-B41B-A20D-7964C7381E29}"/>
              </a:ext>
            </a:extLst>
          </p:cNvPr>
          <p:cNvSpPr/>
          <p:nvPr/>
        </p:nvSpPr>
        <p:spPr>
          <a:xfrm>
            <a:off x="9363456" y="2965077"/>
            <a:ext cx="1024481" cy="682477"/>
          </a:xfrm>
          <a:custGeom>
            <a:avLst/>
            <a:gdLst>
              <a:gd name="connsiteX0" fmla="*/ 665 w 878547"/>
              <a:gd name="connsiteY0" fmla="*/ 0 h 758952"/>
              <a:gd name="connsiteX1" fmla="*/ 28097 w 878547"/>
              <a:gd name="connsiteY1" fmla="*/ 118872 h 758952"/>
              <a:gd name="connsiteX2" fmla="*/ 183545 w 878547"/>
              <a:gd name="connsiteY2" fmla="*/ 237744 h 758952"/>
              <a:gd name="connsiteX3" fmla="*/ 293273 w 878547"/>
              <a:gd name="connsiteY3" fmla="*/ 274320 h 758952"/>
              <a:gd name="connsiteX4" fmla="*/ 421289 w 878547"/>
              <a:gd name="connsiteY4" fmla="*/ 256032 h 758952"/>
              <a:gd name="connsiteX5" fmla="*/ 503585 w 878547"/>
              <a:gd name="connsiteY5" fmla="*/ 256032 h 758952"/>
              <a:gd name="connsiteX6" fmla="*/ 649889 w 878547"/>
              <a:gd name="connsiteY6" fmla="*/ 283464 h 758952"/>
              <a:gd name="connsiteX7" fmla="*/ 759617 w 878547"/>
              <a:gd name="connsiteY7" fmla="*/ 393192 h 758952"/>
              <a:gd name="connsiteX8" fmla="*/ 841913 w 878547"/>
              <a:gd name="connsiteY8" fmla="*/ 530352 h 758952"/>
              <a:gd name="connsiteX9" fmla="*/ 878489 w 878547"/>
              <a:gd name="connsiteY9" fmla="*/ 704088 h 758952"/>
              <a:gd name="connsiteX10" fmla="*/ 851057 w 878547"/>
              <a:gd name="connsiteY10" fmla="*/ 758952 h 758952"/>
              <a:gd name="connsiteX11" fmla="*/ 851057 w 878547"/>
              <a:gd name="connsiteY11" fmla="*/ 758952 h 758952"/>
              <a:gd name="connsiteX12" fmla="*/ 851057 w 878547"/>
              <a:gd name="connsiteY12" fmla="*/ 758952 h 75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78547" h="758952">
                <a:moveTo>
                  <a:pt x="665" y="0"/>
                </a:moveTo>
                <a:cubicBezTo>
                  <a:pt x="-859" y="39624"/>
                  <a:pt x="-2383" y="79248"/>
                  <a:pt x="28097" y="118872"/>
                </a:cubicBezTo>
                <a:cubicBezTo>
                  <a:pt x="58577" y="158496"/>
                  <a:pt x="139349" y="211836"/>
                  <a:pt x="183545" y="237744"/>
                </a:cubicBezTo>
                <a:cubicBezTo>
                  <a:pt x="227741" y="263652"/>
                  <a:pt x="253649" y="271272"/>
                  <a:pt x="293273" y="274320"/>
                </a:cubicBezTo>
                <a:cubicBezTo>
                  <a:pt x="332897" y="277368"/>
                  <a:pt x="386237" y="259080"/>
                  <a:pt x="421289" y="256032"/>
                </a:cubicBezTo>
                <a:cubicBezTo>
                  <a:pt x="456341" y="252984"/>
                  <a:pt x="465485" y="251460"/>
                  <a:pt x="503585" y="256032"/>
                </a:cubicBezTo>
                <a:cubicBezTo>
                  <a:pt x="541685" y="260604"/>
                  <a:pt x="607217" y="260604"/>
                  <a:pt x="649889" y="283464"/>
                </a:cubicBezTo>
                <a:cubicBezTo>
                  <a:pt x="692561" y="306324"/>
                  <a:pt x="727613" y="352044"/>
                  <a:pt x="759617" y="393192"/>
                </a:cubicBezTo>
                <a:cubicBezTo>
                  <a:pt x="791621" y="434340"/>
                  <a:pt x="822101" y="478536"/>
                  <a:pt x="841913" y="530352"/>
                </a:cubicBezTo>
                <a:cubicBezTo>
                  <a:pt x="861725" y="582168"/>
                  <a:pt x="876965" y="665988"/>
                  <a:pt x="878489" y="704088"/>
                </a:cubicBezTo>
                <a:cubicBezTo>
                  <a:pt x="880013" y="742188"/>
                  <a:pt x="851057" y="758952"/>
                  <a:pt x="851057" y="758952"/>
                </a:cubicBezTo>
                <a:lnTo>
                  <a:pt x="851057" y="758952"/>
                </a:lnTo>
                <a:lnTo>
                  <a:pt x="851057" y="758952"/>
                </a:lnTo>
              </a:path>
            </a:pathLst>
          </a:cu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5AF491BC-E6B4-B644-5852-D7174C70AD56}"/>
              </a:ext>
            </a:extLst>
          </p:cNvPr>
          <p:cNvSpPr/>
          <p:nvPr/>
        </p:nvSpPr>
        <p:spPr>
          <a:xfrm>
            <a:off x="3739033" y="4215637"/>
            <a:ext cx="942571" cy="804989"/>
          </a:xfrm>
          <a:prstGeom prst="ellipse">
            <a:avLst/>
          </a:prstGeom>
          <a:no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A3097C6-D375-86CB-5FC3-99690BFB1E9F}"/>
              </a:ext>
            </a:extLst>
          </p:cNvPr>
          <p:cNvSpPr/>
          <p:nvPr/>
        </p:nvSpPr>
        <p:spPr>
          <a:xfrm>
            <a:off x="9639300" y="3426094"/>
            <a:ext cx="1024481" cy="804989"/>
          </a:xfrm>
          <a:prstGeom prst="ellipse">
            <a:avLst/>
          </a:prstGeom>
          <a:no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CCE6E82-82BB-65D9-28C8-1067D0A4E40F}"/>
              </a:ext>
            </a:extLst>
          </p:cNvPr>
          <p:cNvSpPr txBox="1"/>
          <p:nvPr/>
        </p:nvSpPr>
        <p:spPr>
          <a:xfrm>
            <a:off x="8830542" y="3723332"/>
            <a:ext cx="1145262" cy="36933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spTree>
    <p:extLst>
      <p:ext uri="{BB962C8B-B14F-4D97-AF65-F5344CB8AC3E}">
        <p14:creationId xmlns:p14="http://schemas.microsoft.com/office/powerpoint/2010/main" val="29223786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FA84-57B6-70D8-FEEF-EB8AE1E8BA1E}"/>
            </a:ext>
          </a:extLst>
        </p:cNvPr>
        <p:cNvGrpSpPr/>
        <p:nvPr/>
      </p:nvGrpSpPr>
      <p:grpSpPr>
        <a:xfrm>
          <a:off x="0" y="0"/>
          <a:ext cx="0" cy="0"/>
          <a:chOff x="0" y="0"/>
          <a:chExt cx="0" cy="0"/>
        </a:xfrm>
      </p:grpSpPr>
      <p:grpSp>
        <p:nvGrpSpPr>
          <p:cNvPr id="135" name="Group 134">
            <a:extLst>
              <a:ext uri="{FF2B5EF4-FFF2-40B4-BE49-F238E27FC236}">
                <a16:creationId xmlns:a16="http://schemas.microsoft.com/office/drawing/2014/main" id="{5B9D53B8-F4BE-5EE7-DAE1-1E5C069C1862}"/>
              </a:ext>
            </a:extLst>
          </p:cNvPr>
          <p:cNvGrpSpPr/>
          <p:nvPr/>
        </p:nvGrpSpPr>
        <p:grpSpPr>
          <a:xfrm>
            <a:off x="1678133" y="2059200"/>
            <a:ext cx="6372436" cy="4098933"/>
            <a:chOff x="3783509" y="1286974"/>
            <a:chExt cx="8348713" cy="5370130"/>
          </a:xfrm>
        </p:grpSpPr>
        <p:sp>
          <p:nvSpPr>
            <p:cNvPr id="136" name="Parallelogram 135">
              <a:extLst>
                <a:ext uri="{FF2B5EF4-FFF2-40B4-BE49-F238E27FC236}">
                  <a16:creationId xmlns:a16="http://schemas.microsoft.com/office/drawing/2014/main" id="{00B56389-BA1A-9D01-B748-EBD0B2973D80}"/>
                </a:ext>
              </a:extLst>
            </p:cNvPr>
            <p:cNvSpPr/>
            <p:nvPr/>
          </p:nvSpPr>
          <p:spPr>
            <a:xfrm rot="976971">
              <a:off x="3947034" y="4557224"/>
              <a:ext cx="2730494" cy="2099880"/>
            </a:xfrm>
            <a:prstGeom prst="parallelogram">
              <a:avLst>
                <a:gd name="adj" fmla="val 115445"/>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37" name="Straight Connector 136">
              <a:extLst>
                <a:ext uri="{FF2B5EF4-FFF2-40B4-BE49-F238E27FC236}">
                  <a16:creationId xmlns:a16="http://schemas.microsoft.com/office/drawing/2014/main" id="{03F337CC-A7E4-1E52-7D83-AD1817D0949C}"/>
                </a:ext>
              </a:extLst>
            </p:cNvPr>
            <p:cNvCxnSpPr>
              <a:cxnSpLocks/>
            </p:cNvCxnSpPr>
            <p:nvPr/>
          </p:nvCxnSpPr>
          <p:spPr>
            <a:xfrm flipH="1">
              <a:off x="5101436" y="3589813"/>
              <a:ext cx="4640780" cy="2108195"/>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1BB619A4-5A45-8BD0-3225-B02D27037232}"/>
                </a:ext>
              </a:extLst>
            </p:cNvPr>
            <p:cNvCxnSpPr>
              <a:cxnSpLocks/>
              <a:stCxn id="136" idx="3"/>
            </p:cNvCxnSpPr>
            <p:nvPr/>
          </p:nvCxnSpPr>
          <p:spPr>
            <a:xfrm flipV="1">
              <a:off x="3840926" y="5698009"/>
              <a:ext cx="1260510" cy="577132"/>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84889448-2C7E-04E6-B7C6-A1419E22358F}"/>
                </a:ext>
              </a:extLst>
            </p:cNvPr>
            <p:cNvCxnSpPr/>
            <p:nvPr/>
          </p:nvCxnSpPr>
          <p:spPr>
            <a:xfrm flipV="1">
              <a:off x="9742216" y="2275212"/>
              <a:ext cx="0" cy="1314601"/>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D5DAC74-4AE5-990F-AE05-55E05BD68B24}"/>
                </a:ext>
              </a:extLst>
            </p:cNvPr>
            <p:cNvCxnSpPr>
              <a:cxnSpLocks/>
            </p:cNvCxnSpPr>
            <p:nvPr/>
          </p:nvCxnSpPr>
          <p:spPr>
            <a:xfrm flipH="1" flipV="1">
              <a:off x="9050691" y="2127448"/>
              <a:ext cx="1388699" cy="411786"/>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BA867816-3E16-2A77-CA19-C5EA555EC8B2}"/>
                </a:ext>
              </a:extLst>
            </p:cNvPr>
            <p:cNvCxnSpPr>
              <a:cxnSpLocks/>
              <a:stCxn id="144" idx="11"/>
            </p:cNvCxnSpPr>
            <p:nvPr/>
          </p:nvCxnSpPr>
          <p:spPr>
            <a:xfrm flipH="1">
              <a:off x="7207112" y="2403229"/>
              <a:ext cx="1519432" cy="2061741"/>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030FB739-465B-0576-ECB3-F1BF57D3E8A3}"/>
                </a:ext>
              </a:extLst>
            </p:cNvPr>
            <p:cNvCxnSpPr>
              <a:cxnSpLocks/>
            </p:cNvCxnSpPr>
            <p:nvPr/>
          </p:nvCxnSpPr>
          <p:spPr>
            <a:xfrm>
              <a:off x="8716535" y="2487290"/>
              <a:ext cx="0" cy="1221848"/>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36083826-9582-B5C3-A859-C9BD2B2DCD6D}"/>
                </a:ext>
              </a:extLst>
            </p:cNvPr>
            <p:cNvCxnSpPr>
              <a:cxnSpLocks/>
              <a:stCxn id="182" idx="3"/>
            </p:cNvCxnSpPr>
            <p:nvPr/>
          </p:nvCxnSpPr>
          <p:spPr>
            <a:xfrm flipV="1">
              <a:off x="7199027" y="3709138"/>
              <a:ext cx="1520041" cy="77361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4" name="Freeform: Shape 143">
              <a:extLst>
                <a:ext uri="{FF2B5EF4-FFF2-40B4-BE49-F238E27FC236}">
                  <a16:creationId xmlns:a16="http://schemas.microsoft.com/office/drawing/2014/main" id="{00D53627-4501-D450-B6BF-EC240742E67B}"/>
                </a:ext>
              </a:extLst>
            </p:cNvPr>
            <p:cNvSpPr/>
            <p:nvPr/>
          </p:nvSpPr>
          <p:spPr>
            <a:xfrm>
              <a:off x="8726544" y="1837109"/>
              <a:ext cx="1316296" cy="566120"/>
            </a:xfrm>
            <a:custGeom>
              <a:avLst/>
              <a:gdLst>
                <a:gd name="connsiteX0" fmla="*/ 746125 w 1016165"/>
                <a:gd name="connsiteY0" fmla="*/ 305587 h 451637"/>
                <a:gd name="connsiteX1" fmla="*/ 831850 w 1016165"/>
                <a:gd name="connsiteY1" fmla="*/ 232562 h 451637"/>
                <a:gd name="connsiteX2" fmla="*/ 908050 w 1016165"/>
                <a:gd name="connsiteY2" fmla="*/ 17541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31850 w 1016165"/>
                <a:gd name="connsiteY1" fmla="*/ 232562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1016165"/>
                <a:gd name="connsiteY0" fmla="*/ 305587 h 451637"/>
                <a:gd name="connsiteX1" fmla="*/ 808037 w 1016165"/>
                <a:gd name="connsiteY1" fmla="*/ 239706 h 451637"/>
                <a:gd name="connsiteX2" fmla="*/ 862806 w 1016165"/>
                <a:gd name="connsiteY2" fmla="*/ 194462 h 451637"/>
                <a:gd name="connsiteX3" fmla="*/ 930275 w 1016165"/>
                <a:gd name="connsiteY3" fmla="*/ 172237 h 451637"/>
                <a:gd name="connsiteX4" fmla="*/ 984250 w 1016165"/>
                <a:gd name="connsiteY4" fmla="*/ 165887 h 451637"/>
                <a:gd name="connsiteX5" fmla="*/ 1000125 w 1016165"/>
                <a:gd name="connsiteY5" fmla="*/ 130962 h 451637"/>
                <a:gd name="connsiteX6" fmla="*/ 749300 w 1016165"/>
                <a:gd name="connsiteY6" fmla="*/ 787 h 451637"/>
                <a:gd name="connsiteX7" fmla="*/ 295275 w 1016165"/>
                <a:gd name="connsiteY7" fmla="*/ 96037 h 451637"/>
                <a:gd name="connsiteX8" fmla="*/ 0 w 1016165"/>
                <a:gd name="connsiteY8" fmla="*/ 451637 h 451637"/>
                <a:gd name="connsiteX0" fmla="*/ 746125 w 991229"/>
                <a:gd name="connsiteY0" fmla="*/ 305112 h 451162"/>
                <a:gd name="connsiteX1" fmla="*/ 808037 w 991229"/>
                <a:gd name="connsiteY1" fmla="*/ 239231 h 451162"/>
                <a:gd name="connsiteX2" fmla="*/ 862806 w 991229"/>
                <a:gd name="connsiteY2" fmla="*/ 193987 h 451162"/>
                <a:gd name="connsiteX3" fmla="*/ 930275 w 991229"/>
                <a:gd name="connsiteY3" fmla="*/ 171762 h 451162"/>
                <a:gd name="connsiteX4" fmla="*/ 984250 w 991229"/>
                <a:gd name="connsiteY4" fmla="*/ 165412 h 451162"/>
                <a:gd name="connsiteX5" fmla="*/ 964406 w 991229"/>
                <a:gd name="connsiteY5" fmla="*/ 68574 h 451162"/>
                <a:gd name="connsiteX6" fmla="*/ 749300 w 991229"/>
                <a:gd name="connsiteY6" fmla="*/ 312 h 451162"/>
                <a:gd name="connsiteX7" fmla="*/ 295275 w 991229"/>
                <a:gd name="connsiteY7" fmla="*/ 95562 h 451162"/>
                <a:gd name="connsiteX8" fmla="*/ 0 w 991229"/>
                <a:gd name="connsiteY8" fmla="*/ 451162 h 451162"/>
                <a:gd name="connsiteX0" fmla="*/ 746125 w 994736"/>
                <a:gd name="connsiteY0" fmla="*/ 319338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625 h 465388"/>
                <a:gd name="connsiteX1" fmla="*/ 808037 w 994736"/>
                <a:gd name="connsiteY1" fmla="*/ 253457 h 465388"/>
                <a:gd name="connsiteX2" fmla="*/ 862806 w 994736"/>
                <a:gd name="connsiteY2" fmla="*/ 208213 h 465388"/>
                <a:gd name="connsiteX3" fmla="*/ 930275 w 994736"/>
                <a:gd name="connsiteY3" fmla="*/ 185988 h 465388"/>
                <a:gd name="connsiteX4" fmla="*/ 984250 w 994736"/>
                <a:gd name="connsiteY4" fmla="*/ 179638 h 465388"/>
                <a:gd name="connsiteX5" fmla="*/ 964406 w 994736"/>
                <a:gd name="connsiteY5" fmla="*/ 82800 h 465388"/>
                <a:gd name="connsiteX6" fmla="*/ 692150 w 994736"/>
                <a:gd name="connsiteY6" fmla="*/ 250 h 465388"/>
                <a:gd name="connsiteX7" fmla="*/ 295275 w 994736"/>
                <a:gd name="connsiteY7" fmla="*/ 109788 h 465388"/>
                <a:gd name="connsiteX8" fmla="*/ 0 w 994736"/>
                <a:gd name="connsiteY8" fmla="*/ 465388 h 465388"/>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0 w 994736"/>
                <a:gd name="connsiteY8"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08598 w 994736"/>
                <a:gd name="connsiteY8" fmla="*/ 312415 h 465477"/>
                <a:gd name="connsiteX9" fmla="*/ 0 w 994736"/>
                <a:gd name="connsiteY9" fmla="*/ 465477 h 465477"/>
                <a:gd name="connsiteX0" fmla="*/ 734218 w 994736"/>
                <a:gd name="connsiteY0" fmla="*/ 333714 h 465477"/>
                <a:gd name="connsiteX1" fmla="*/ 808037 w 994736"/>
                <a:gd name="connsiteY1" fmla="*/ 253546 h 465477"/>
                <a:gd name="connsiteX2" fmla="*/ 862806 w 994736"/>
                <a:gd name="connsiteY2" fmla="*/ 208302 h 465477"/>
                <a:gd name="connsiteX3" fmla="*/ 930275 w 994736"/>
                <a:gd name="connsiteY3" fmla="*/ 186077 h 465477"/>
                <a:gd name="connsiteX4" fmla="*/ 984250 w 994736"/>
                <a:gd name="connsiteY4" fmla="*/ 179727 h 465477"/>
                <a:gd name="connsiteX5" fmla="*/ 964406 w 994736"/>
                <a:gd name="connsiteY5" fmla="*/ 82889 h 465477"/>
                <a:gd name="connsiteX6" fmla="*/ 692150 w 994736"/>
                <a:gd name="connsiteY6" fmla="*/ 339 h 465477"/>
                <a:gd name="connsiteX7" fmla="*/ 309563 w 994736"/>
                <a:gd name="connsiteY7" fmla="*/ 114640 h 465477"/>
                <a:gd name="connsiteX8" fmla="*/ 130029 w 994736"/>
                <a:gd name="connsiteY8" fmla="*/ 305271 h 465477"/>
                <a:gd name="connsiteX9" fmla="*/ 0 w 994736"/>
                <a:gd name="connsiteY9" fmla="*/ 465477 h 465477"/>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30029 w 994736"/>
                <a:gd name="connsiteY8" fmla="*/ 305107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4317 w 994736"/>
                <a:gd name="connsiteY8" fmla="*/ 340826 h 465313"/>
                <a:gd name="connsiteX9" fmla="*/ 0 w 994736"/>
                <a:gd name="connsiteY9" fmla="*/ 465313 h 465313"/>
                <a:gd name="connsiteX0" fmla="*/ 734218 w 994736"/>
                <a:gd name="connsiteY0" fmla="*/ 333550 h 465313"/>
                <a:gd name="connsiteX1" fmla="*/ 808037 w 994736"/>
                <a:gd name="connsiteY1" fmla="*/ 253382 h 465313"/>
                <a:gd name="connsiteX2" fmla="*/ 862806 w 994736"/>
                <a:gd name="connsiteY2" fmla="*/ 208138 h 465313"/>
                <a:gd name="connsiteX3" fmla="*/ 930275 w 994736"/>
                <a:gd name="connsiteY3" fmla="*/ 185913 h 465313"/>
                <a:gd name="connsiteX4" fmla="*/ 984250 w 994736"/>
                <a:gd name="connsiteY4" fmla="*/ 179563 h 465313"/>
                <a:gd name="connsiteX5" fmla="*/ 964406 w 994736"/>
                <a:gd name="connsiteY5" fmla="*/ 82725 h 465313"/>
                <a:gd name="connsiteX6" fmla="*/ 692150 w 994736"/>
                <a:gd name="connsiteY6" fmla="*/ 175 h 465313"/>
                <a:gd name="connsiteX7" fmla="*/ 395288 w 994736"/>
                <a:gd name="connsiteY7" fmla="*/ 69233 h 465313"/>
                <a:gd name="connsiteX8" fmla="*/ 149079 w 994736"/>
                <a:gd name="connsiteY8" fmla="*/ 326539 h 465313"/>
                <a:gd name="connsiteX9" fmla="*/ 0 w 994736"/>
                <a:gd name="connsiteY9" fmla="*/ 465313 h 465313"/>
                <a:gd name="connsiteX0" fmla="*/ 734218 w 994736"/>
                <a:gd name="connsiteY0" fmla="*/ 333459 h 465222"/>
                <a:gd name="connsiteX1" fmla="*/ 808037 w 994736"/>
                <a:gd name="connsiteY1" fmla="*/ 253291 h 465222"/>
                <a:gd name="connsiteX2" fmla="*/ 862806 w 994736"/>
                <a:gd name="connsiteY2" fmla="*/ 208047 h 465222"/>
                <a:gd name="connsiteX3" fmla="*/ 930275 w 994736"/>
                <a:gd name="connsiteY3" fmla="*/ 185822 h 465222"/>
                <a:gd name="connsiteX4" fmla="*/ 984250 w 994736"/>
                <a:gd name="connsiteY4" fmla="*/ 179472 h 465222"/>
                <a:gd name="connsiteX5" fmla="*/ 964406 w 994736"/>
                <a:gd name="connsiteY5" fmla="*/ 82634 h 465222"/>
                <a:gd name="connsiteX6" fmla="*/ 692150 w 994736"/>
                <a:gd name="connsiteY6" fmla="*/ 84 h 465222"/>
                <a:gd name="connsiteX7" fmla="*/ 435769 w 994736"/>
                <a:gd name="connsiteY7" fmla="*/ 97717 h 465222"/>
                <a:gd name="connsiteX8" fmla="*/ 149079 w 994736"/>
                <a:gd name="connsiteY8" fmla="*/ 326448 h 465222"/>
                <a:gd name="connsiteX9" fmla="*/ 0 w 994736"/>
                <a:gd name="connsiteY9" fmla="*/ 465222 h 465222"/>
                <a:gd name="connsiteX0" fmla="*/ 734218 w 995974"/>
                <a:gd name="connsiteY0" fmla="*/ 293096 h 424859"/>
                <a:gd name="connsiteX1" fmla="*/ 808037 w 995974"/>
                <a:gd name="connsiteY1" fmla="*/ 212928 h 424859"/>
                <a:gd name="connsiteX2" fmla="*/ 862806 w 995974"/>
                <a:gd name="connsiteY2" fmla="*/ 167684 h 424859"/>
                <a:gd name="connsiteX3" fmla="*/ 930275 w 995974"/>
                <a:gd name="connsiteY3" fmla="*/ 145459 h 424859"/>
                <a:gd name="connsiteX4" fmla="*/ 984250 w 995974"/>
                <a:gd name="connsiteY4" fmla="*/ 139109 h 424859"/>
                <a:gd name="connsiteX5" fmla="*/ 964406 w 995974"/>
                <a:gd name="connsiteY5" fmla="*/ 42271 h 424859"/>
                <a:gd name="connsiteX6" fmla="*/ 673100 w 995974"/>
                <a:gd name="connsiteY6" fmla="*/ 202 h 424859"/>
                <a:gd name="connsiteX7" fmla="*/ 435769 w 995974"/>
                <a:gd name="connsiteY7" fmla="*/ 57354 h 424859"/>
                <a:gd name="connsiteX8" fmla="*/ 149079 w 995974"/>
                <a:gd name="connsiteY8" fmla="*/ 286085 h 424859"/>
                <a:gd name="connsiteX9" fmla="*/ 0 w 995974"/>
                <a:gd name="connsiteY9" fmla="*/ 424859 h 424859"/>
                <a:gd name="connsiteX0" fmla="*/ 734218 w 984695"/>
                <a:gd name="connsiteY0" fmla="*/ 293854 h 425617"/>
                <a:gd name="connsiteX1" fmla="*/ 808037 w 984695"/>
                <a:gd name="connsiteY1" fmla="*/ 213686 h 425617"/>
                <a:gd name="connsiteX2" fmla="*/ 862806 w 984695"/>
                <a:gd name="connsiteY2" fmla="*/ 168442 h 425617"/>
                <a:gd name="connsiteX3" fmla="*/ 930275 w 984695"/>
                <a:gd name="connsiteY3" fmla="*/ 146217 h 425617"/>
                <a:gd name="connsiteX4" fmla="*/ 984250 w 984695"/>
                <a:gd name="connsiteY4" fmla="*/ 139867 h 425617"/>
                <a:gd name="connsiteX5" fmla="*/ 900112 w 984695"/>
                <a:gd name="connsiteY5" fmla="*/ 31123 h 425617"/>
                <a:gd name="connsiteX6" fmla="*/ 673100 w 984695"/>
                <a:gd name="connsiteY6" fmla="*/ 960 h 425617"/>
                <a:gd name="connsiteX7" fmla="*/ 435769 w 984695"/>
                <a:gd name="connsiteY7" fmla="*/ 58112 h 425617"/>
                <a:gd name="connsiteX8" fmla="*/ 149079 w 984695"/>
                <a:gd name="connsiteY8" fmla="*/ 286843 h 425617"/>
                <a:gd name="connsiteX9" fmla="*/ 0 w 984695"/>
                <a:gd name="connsiteY9" fmla="*/ 425617 h 425617"/>
                <a:gd name="connsiteX0" fmla="*/ 734218 w 956666"/>
                <a:gd name="connsiteY0" fmla="*/ 293576 h 425339"/>
                <a:gd name="connsiteX1" fmla="*/ 808037 w 956666"/>
                <a:gd name="connsiteY1" fmla="*/ 213408 h 425339"/>
                <a:gd name="connsiteX2" fmla="*/ 862806 w 956666"/>
                <a:gd name="connsiteY2" fmla="*/ 168164 h 425339"/>
                <a:gd name="connsiteX3" fmla="*/ 930275 w 956666"/>
                <a:gd name="connsiteY3" fmla="*/ 145939 h 425339"/>
                <a:gd name="connsiteX4" fmla="*/ 955675 w 956666"/>
                <a:gd name="connsiteY4" fmla="*/ 96727 h 425339"/>
                <a:gd name="connsiteX5" fmla="*/ 900112 w 956666"/>
                <a:gd name="connsiteY5" fmla="*/ 30845 h 425339"/>
                <a:gd name="connsiteX6" fmla="*/ 673100 w 956666"/>
                <a:gd name="connsiteY6" fmla="*/ 682 h 425339"/>
                <a:gd name="connsiteX7" fmla="*/ 435769 w 956666"/>
                <a:gd name="connsiteY7" fmla="*/ 57834 h 425339"/>
                <a:gd name="connsiteX8" fmla="*/ 149079 w 956666"/>
                <a:gd name="connsiteY8" fmla="*/ 286565 h 425339"/>
                <a:gd name="connsiteX9" fmla="*/ 0 w 956666"/>
                <a:gd name="connsiteY9" fmla="*/ 425339 h 425339"/>
                <a:gd name="connsiteX0" fmla="*/ 734218 w 960284"/>
                <a:gd name="connsiteY0" fmla="*/ 294275 h 426038"/>
                <a:gd name="connsiteX1" fmla="*/ 808037 w 960284"/>
                <a:gd name="connsiteY1" fmla="*/ 214107 h 426038"/>
                <a:gd name="connsiteX2" fmla="*/ 862806 w 960284"/>
                <a:gd name="connsiteY2" fmla="*/ 168863 h 426038"/>
                <a:gd name="connsiteX3" fmla="*/ 930275 w 960284"/>
                <a:gd name="connsiteY3" fmla="*/ 146638 h 426038"/>
                <a:gd name="connsiteX4" fmla="*/ 955675 w 960284"/>
                <a:gd name="connsiteY4" fmla="*/ 97426 h 426038"/>
                <a:gd name="connsiteX5" fmla="*/ 840581 w 960284"/>
                <a:gd name="connsiteY5" fmla="*/ 24400 h 426038"/>
                <a:gd name="connsiteX6" fmla="*/ 673100 w 960284"/>
                <a:gd name="connsiteY6" fmla="*/ 1381 h 426038"/>
                <a:gd name="connsiteX7" fmla="*/ 435769 w 960284"/>
                <a:gd name="connsiteY7" fmla="*/ 58533 h 426038"/>
                <a:gd name="connsiteX8" fmla="*/ 149079 w 960284"/>
                <a:gd name="connsiteY8" fmla="*/ 287264 h 426038"/>
                <a:gd name="connsiteX9" fmla="*/ 0 w 960284"/>
                <a:gd name="connsiteY9" fmla="*/ 426038 h 426038"/>
                <a:gd name="connsiteX0" fmla="*/ 734218 w 960284"/>
                <a:gd name="connsiteY0" fmla="*/ 285708 h 417471"/>
                <a:gd name="connsiteX1" fmla="*/ 808037 w 960284"/>
                <a:gd name="connsiteY1" fmla="*/ 205540 h 417471"/>
                <a:gd name="connsiteX2" fmla="*/ 862806 w 960284"/>
                <a:gd name="connsiteY2" fmla="*/ 160296 h 417471"/>
                <a:gd name="connsiteX3" fmla="*/ 930275 w 960284"/>
                <a:gd name="connsiteY3" fmla="*/ 138071 h 417471"/>
                <a:gd name="connsiteX4" fmla="*/ 955675 w 960284"/>
                <a:gd name="connsiteY4" fmla="*/ 88859 h 417471"/>
                <a:gd name="connsiteX5" fmla="*/ 840581 w 960284"/>
                <a:gd name="connsiteY5" fmla="*/ 15833 h 417471"/>
                <a:gd name="connsiteX6" fmla="*/ 620713 w 960284"/>
                <a:gd name="connsiteY6" fmla="*/ 2339 h 417471"/>
                <a:gd name="connsiteX7" fmla="*/ 435769 w 960284"/>
                <a:gd name="connsiteY7" fmla="*/ 49966 h 417471"/>
                <a:gd name="connsiteX8" fmla="*/ 149079 w 960284"/>
                <a:gd name="connsiteY8" fmla="*/ 278697 h 417471"/>
                <a:gd name="connsiteX9" fmla="*/ 0 w 960284"/>
                <a:gd name="connsiteY9" fmla="*/ 417471 h 417471"/>
                <a:gd name="connsiteX0" fmla="*/ 734218 w 960284"/>
                <a:gd name="connsiteY0" fmla="*/ 298792 h 430555"/>
                <a:gd name="connsiteX1" fmla="*/ 808037 w 960284"/>
                <a:gd name="connsiteY1" fmla="*/ 218624 h 430555"/>
                <a:gd name="connsiteX2" fmla="*/ 862806 w 960284"/>
                <a:gd name="connsiteY2" fmla="*/ 173380 h 430555"/>
                <a:gd name="connsiteX3" fmla="*/ 930275 w 960284"/>
                <a:gd name="connsiteY3" fmla="*/ 151155 h 430555"/>
                <a:gd name="connsiteX4" fmla="*/ 955675 w 960284"/>
                <a:gd name="connsiteY4" fmla="*/ 101943 h 430555"/>
                <a:gd name="connsiteX5" fmla="*/ 840581 w 960284"/>
                <a:gd name="connsiteY5" fmla="*/ 28917 h 430555"/>
                <a:gd name="connsiteX6" fmla="*/ 661195 w 960284"/>
                <a:gd name="connsiteY6" fmla="*/ 1136 h 430555"/>
                <a:gd name="connsiteX7" fmla="*/ 435769 w 960284"/>
                <a:gd name="connsiteY7" fmla="*/ 63050 h 430555"/>
                <a:gd name="connsiteX8" fmla="*/ 149079 w 960284"/>
                <a:gd name="connsiteY8" fmla="*/ 291781 h 430555"/>
                <a:gd name="connsiteX9" fmla="*/ 0 w 960284"/>
                <a:gd name="connsiteY9" fmla="*/ 430555 h 430555"/>
                <a:gd name="connsiteX0" fmla="*/ 734218 w 960284"/>
                <a:gd name="connsiteY0" fmla="*/ 304637 h 436400"/>
                <a:gd name="connsiteX1" fmla="*/ 808037 w 960284"/>
                <a:gd name="connsiteY1" fmla="*/ 224469 h 436400"/>
                <a:gd name="connsiteX2" fmla="*/ 862806 w 960284"/>
                <a:gd name="connsiteY2" fmla="*/ 179225 h 436400"/>
                <a:gd name="connsiteX3" fmla="*/ 930275 w 960284"/>
                <a:gd name="connsiteY3" fmla="*/ 157000 h 436400"/>
                <a:gd name="connsiteX4" fmla="*/ 955675 w 960284"/>
                <a:gd name="connsiteY4" fmla="*/ 107788 h 436400"/>
                <a:gd name="connsiteX5" fmla="*/ 840581 w 960284"/>
                <a:gd name="connsiteY5" fmla="*/ 34762 h 436400"/>
                <a:gd name="connsiteX6" fmla="*/ 661195 w 960284"/>
                <a:gd name="connsiteY6" fmla="*/ 6981 h 436400"/>
                <a:gd name="connsiteX7" fmla="*/ 328613 w 960284"/>
                <a:gd name="connsiteY7" fmla="*/ 161764 h 436400"/>
                <a:gd name="connsiteX8" fmla="*/ 149079 w 960284"/>
                <a:gd name="connsiteY8" fmla="*/ 297626 h 436400"/>
                <a:gd name="connsiteX9" fmla="*/ 0 w 960284"/>
                <a:gd name="connsiteY9" fmla="*/ 436400 h 436400"/>
                <a:gd name="connsiteX0" fmla="*/ 734218 w 961893"/>
                <a:gd name="connsiteY0" fmla="*/ 302232 h 433995"/>
                <a:gd name="connsiteX1" fmla="*/ 808037 w 961893"/>
                <a:gd name="connsiteY1" fmla="*/ 222064 h 433995"/>
                <a:gd name="connsiteX2" fmla="*/ 862806 w 961893"/>
                <a:gd name="connsiteY2" fmla="*/ 176820 h 433995"/>
                <a:gd name="connsiteX3" fmla="*/ 930275 w 961893"/>
                <a:gd name="connsiteY3" fmla="*/ 154595 h 433995"/>
                <a:gd name="connsiteX4" fmla="*/ 955675 w 961893"/>
                <a:gd name="connsiteY4" fmla="*/ 105383 h 433995"/>
                <a:gd name="connsiteX5" fmla="*/ 816768 w 961893"/>
                <a:gd name="connsiteY5" fmla="*/ 46645 h 433995"/>
                <a:gd name="connsiteX6" fmla="*/ 661195 w 961893"/>
                <a:gd name="connsiteY6" fmla="*/ 4576 h 433995"/>
                <a:gd name="connsiteX7" fmla="*/ 328613 w 961893"/>
                <a:gd name="connsiteY7" fmla="*/ 159359 h 433995"/>
                <a:gd name="connsiteX8" fmla="*/ 149079 w 961893"/>
                <a:gd name="connsiteY8" fmla="*/ 295221 h 433995"/>
                <a:gd name="connsiteX9" fmla="*/ 0 w 961893"/>
                <a:gd name="connsiteY9" fmla="*/ 433995 h 433995"/>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49079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137173 w 961893"/>
                <a:gd name="connsiteY8" fmla="*/ 254936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61947 h 393710"/>
                <a:gd name="connsiteX1" fmla="*/ 808037 w 961893"/>
                <a:gd name="connsiteY1" fmla="*/ 181779 h 393710"/>
                <a:gd name="connsiteX2" fmla="*/ 862806 w 961893"/>
                <a:gd name="connsiteY2" fmla="*/ 136535 h 393710"/>
                <a:gd name="connsiteX3" fmla="*/ 930275 w 961893"/>
                <a:gd name="connsiteY3" fmla="*/ 114310 h 393710"/>
                <a:gd name="connsiteX4" fmla="*/ 955675 w 961893"/>
                <a:gd name="connsiteY4" fmla="*/ 65098 h 393710"/>
                <a:gd name="connsiteX5" fmla="*/ 816768 w 961893"/>
                <a:gd name="connsiteY5" fmla="*/ 6360 h 393710"/>
                <a:gd name="connsiteX6" fmla="*/ 537370 w 961893"/>
                <a:gd name="connsiteY6" fmla="*/ 14297 h 393710"/>
                <a:gd name="connsiteX7" fmla="*/ 328613 w 961893"/>
                <a:gd name="connsiteY7" fmla="*/ 119074 h 393710"/>
                <a:gd name="connsiteX8" fmla="*/ 210992 w 961893"/>
                <a:gd name="connsiteY8" fmla="*/ 193024 h 393710"/>
                <a:gd name="connsiteX9" fmla="*/ 0 w 961893"/>
                <a:gd name="connsiteY9" fmla="*/ 393710 h 393710"/>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59888 h 391651"/>
                <a:gd name="connsiteX1" fmla="*/ 808037 w 961893"/>
                <a:gd name="connsiteY1" fmla="*/ 179720 h 391651"/>
                <a:gd name="connsiteX2" fmla="*/ 862806 w 961893"/>
                <a:gd name="connsiteY2" fmla="*/ 134476 h 391651"/>
                <a:gd name="connsiteX3" fmla="*/ 930275 w 961893"/>
                <a:gd name="connsiteY3" fmla="*/ 112251 h 391651"/>
                <a:gd name="connsiteX4" fmla="*/ 955675 w 961893"/>
                <a:gd name="connsiteY4" fmla="*/ 63039 h 391651"/>
                <a:gd name="connsiteX5" fmla="*/ 816768 w 961893"/>
                <a:gd name="connsiteY5" fmla="*/ 4301 h 391651"/>
                <a:gd name="connsiteX6" fmla="*/ 537370 w 961893"/>
                <a:gd name="connsiteY6" fmla="*/ 12238 h 391651"/>
                <a:gd name="connsiteX7" fmla="*/ 385763 w 961893"/>
                <a:gd name="connsiteY7" fmla="*/ 74153 h 391651"/>
                <a:gd name="connsiteX8" fmla="*/ 210992 w 961893"/>
                <a:gd name="connsiteY8" fmla="*/ 190965 h 391651"/>
                <a:gd name="connsiteX9" fmla="*/ 0 w 961893"/>
                <a:gd name="connsiteY9" fmla="*/ 391651 h 391651"/>
                <a:gd name="connsiteX0" fmla="*/ 734218 w 961893"/>
                <a:gd name="connsiteY0" fmla="*/ 263625 h 395388"/>
                <a:gd name="connsiteX1" fmla="*/ 808037 w 961893"/>
                <a:gd name="connsiteY1" fmla="*/ 183457 h 395388"/>
                <a:gd name="connsiteX2" fmla="*/ 862806 w 961893"/>
                <a:gd name="connsiteY2" fmla="*/ 138213 h 395388"/>
                <a:gd name="connsiteX3" fmla="*/ 930275 w 961893"/>
                <a:gd name="connsiteY3" fmla="*/ 115988 h 395388"/>
                <a:gd name="connsiteX4" fmla="*/ 955675 w 961893"/>
                <a:gd name="connsiteY4" fmla="*/ 66776 h 395388"/>
                <a:gd name="connsiteX5" fmla="*/ 816768 w 961893"/>
                <a:gd name="connsiteY5" fmla="*/ 8038 h 395388"/>
                <a:gd name="connsiteX6" fmla="*/ 537370 w 961893"/>
                <a:gd name="connsiteY6" fmla="*/ 15975 h 395388"/>
                <a:gd name="connsiteX7" fmla="*/ 385763 w 961893"/>
                <a:gd name="connsiteY7" fmla="*/ 77890 h 395388"/>
                <a:gd name="connsiteX8" fmla="*/ 210992 w 961893"/>
                <a:gd name="connsiteY8" fmla="*/ 194702 h 395388"/>
                <a:gd name="connsiteX9" fmla="*/ 0 w 961893"/>
                <a:gd name="connsiteY9" fmla="*/ 395388 h 395388"/>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210992 w 961893"/>
                <a:gd name="connsiteY8" fmla="*/ 194557 h 395243"/>
                <a:gd name="connsiteX9" fmla="*/ 0 w 961893"/>
                <a:gd name="connsiteY9" fmla="*/ 395243 h 395243"/>
                <a:gd name="connsiteX0" fmla="*/ 734218 w 961893"/>
                <a:gd name="connsiteY0" fmla="*/ 263480 h 395243"/>
                <a:gd name="connsiteX1" fmla="*/ 808037 w 961893"/>
                <a:gd name="connsiteY1" fmla="*/ 183312 h 395243"/>
                <a:gd name="connsiteX2" fmla="*/ 862806 w 961893"/>
                <a:gd name="connsiteY2" fmla="*/ 138068 h 395243"/>
                <a:gd name="connsiteX3" fmla="*/ 930275 w 961893"/>
                <a:gd name="connsiteY3" fmla="*/ 115843 h 395243"/>
                <a:gd name="connsiteX4" fmla="*/ 955675 w 961893"/>
                <a:gd name="connsiteY4" fmla="*/ 66631 h 395243"/>
                <a:gd name="connsiteX5" fmla="*/ 816768 w 961893"/>
                <a:gd name="connsiteY5" fmla="*/ 7893 h 395243"/>
                <a:gd name="connsiteX6" fmla="*/ 537370 w 961893"/>
                <a:gd name="connsiteY6" fmla="*/ 15830 h 395243"/>
                <a:gd name="connsiteX7" fmla="*/ 364331 w 961893"/>
                <a:gd name="connsiteY7" fmla="*/ 146801 h 395243"/>
                <a:gd name="connsiteX8" fmla="*/ 170511 w 961893"/>
                <a:gd name="connsiteY8" fmla="*/ 270757 h 395243"/>
                <a:gd name="connsiteX9" fmla="*/ 0 w 961893"/>
                <a:gd name="connsiteY9" fmla="*/ 395243 h 395243"/>
                <a:gd name="connsiteX0" fmla="*/ 734218 w 961893"/>
                <a:gd name="connsiteY0" fmla="*/ 256094 h 387857"/>
                <a:gd name="connsiteX1" fmla="*/ 808037 w 961893"/>
                <a:gd name="connsiteY1" fmla="*/ 175926 h 387857"/>
                <a:gd name="connsiteX2" fmla="*/ 862806 w 961893"/>
                <a:gd name="connsiteY2" fmla="*/ 130682 h 387857"/>
                <a:gd name="connsiteX3" fmla="*/ 930275 w 961893"/>
                <a:gd name="connsiteY3" fmla="*/ 108457 h 387857"/>
                <a:gd name="connsiteX4" fmla="*/ 955675 w 961893"/>
                <a:gd name="connsiteY4" fmla="*/ 59245 h 387857"/>
                <a:gd name="connsiteX5" fmla="*/ 816768 w 961893"/>
                <a:gd name="connsiteY5" fmla="*/ 507 h 387857"/>
                <a:gd name="connsiteX6" fmla="*/ 575470 w 961893"/>
                <a:gd name="connsiteY6" fmla="*/ 37019 h 387857"/>
                <a:gd name="connsiteX7" fmla="*/ 364331 w 961893"/>
                <a:gd name="connsiteY7" fmla="*/ 139415 h 387857"/>
                <a:gd name="connsiteX8" fmla="*/ 170511 w 961893"/>
                <a:gd name="connsiteY8" fmla="*/ 263371 h 387857"/>
                <a:gd name="connsiteX9" fmla="*/ 0 w 961893"/>
                <a:gd name="connsiteY9" fmla="*/ 387857 h 387857"/>
                <a:gd name="connsiteX0" fmla="*/ 734218 w 961893"/>
                <a:gd name="connsiteY0" fmla="*/ 256308 h 388071"/>
                <a:gd name="connsiteX1" fmla="*/ 808037 w 961893"/>
                <a:gd name="connsiteY1" fmla="*/ 176140 h 388071"/>
                <a:gd name="connsiteX2" fmla="*/ 862806 w 961893"/>
                <a:gd name="connsiteY2" fmla="*/ 130896 h 388071"/>
                <a:gd name="connsiteX3" fmla="*/ 930275 w 961893"/>
                <a:gd name="connsiteY3" fmla="*/ 108671 h 388071"/>
                <a:gd name="connsiteX4" fmla="*/ 955675 w 961893"/>
                <a:gd name="connsiteY4" fmla="*/ 59459 h 388071"/>
                <a:gd name="connsiteX5" fmla="*/ 816768 w 961893"/>
                <a:gd name="connsiteY5" fmla="*/ 721 h 388071"/>
                <a:gd name="connsiteX6" fmla="*/ 575470 w 961893"/>
                <a:gd name="connsiteY6" fmla="*/ 37233 h 388071"/>
                <a:gd name="connsiteX7" fmla="*/ 378619 w 961893"/>
                <a:gd name="connsiteY7" fmla="*/ 180110 h 388071"/>
                <a:gd name="connsiteX8" fmla="*/ 170511 w 961893"/>
                <a:gd name="connsiteY8" fmla="*/ 263585 h 388071"/>
                <a:gd name="connsiteX9" fmla="*/ 0 w 961893"/>
                <a:gd name="connsiteY9" fmla="*/ 388071 h 388071"/>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187179 w 978561"/>
                <a:gd name="connsiteY8" fmla="*/ 263585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6308 h 533327"/>
                <a:gd name="connsiteX1" fmla="*/ 824705 w 978561"/>
                <a:gd name="connsiteY1" fmla="*/ 176140 h 533327"/>
                <a:gd name="connsiteX2" fmla="*/ 879474 w 978561"/>
                <a:gd name="connsiteY2" fmla="*/ 130896 h 533327"/>
                <a:gd name="connsiteX3" fmla="*/ 946943 w 978561"/>
                <a:gd name="connsiteY3" fmla="*/ 108671 h 533327"/>
                <a:gd name="connsiteX4" fmla="*/ 972343 w 978561"/>
                <a:gd name="connsiteY4" fmla="*/ 59459 h 533327"/>
                <a:gd name="connsiteX5" fmla="*/ 833436 w 978561"/>
                <a:gd name="connsiteY5" fmla="*/ 721 h 533327"/>
                <a:gd name="connsiteX6" fmla="*/ 592138 w 978561"/>
                <a:gd name="connsiteY6" fmla="*/ 37233 h 533327"/>
                <a:gd name="connsiteX7" fmla="*/ 395287 w 978561"/>
                <a:gd name="connsiteY7" fmla="*/ 180110 h 533327"/>
                <a:gd name="connsiteX8" fmla="*/ 220517 w 978561"/>
                <a:gd name="connsiteY8" fmla="*/ 323116 h 533327"/>
                <a:gd name="connsiteX9" fmla="*/ 0 w 978561"/>
                <a:gd name="connsiteY9" fmla="*/ 533327 h 533327"/>
                <a:gd name="connsiteX0" fmla="*/ 750886 w 978561"/>
                <a:gd name="connsiteY0" fmla="*/ 259174 h 536193"/>
                <a:gd name="connsiteX1" fmla="*/ 824705 w 978561"/>
                <a:gd name="connsiteY1" fmla="*/ 179006 h 536193"/>
                <a:gd name="connsiteX2" fmla="*/ 879474 w 978561"/>
                <a:gd name="connsiteY2" fmla="*/ 133762 h 536193"/>
                <a:gd name="connsiteX3" fmla="*/ 946943 w 978561"/>
                <a:gd name="connsiteY3" fmla="*/ 111537 h 536193"/>
                <a:gd name="connsiteX4" fmla="*/ 972343 w 978561"/>
                <a:gd name="connsiteY4" fmla="*/ 62325 h 536193"/>
                <a:gd name="connsiteX5" fmla="*/ 833436 w 978561"/>
                <a:gd name="connsiteY5" fmla="*/ 3587 h 536193"/>
                <a:gd name="connsiteX6" fmla="*/ 646907 w 978561"/>
                <a:gd name="connsiteY6" fmla="*/ 25811 h 536193"/>
                <a:gd name="connsiteX7" fmla="*/ 395287 w 978561"/>
                <a:gd name="connsiteY7" fmla="*/ 182976 h 536193"/>
                <a:gd name="connsiteX8" fmla="*/ 220517 w 978561"/>
                <a:gd name="connsiteY8" fmla="*/ 325982 h 536193"/>
                <a:gd name="connsiteX9" fmla="*/ 0 w 978561"/>
                <a:gd name="connsiteY9" fmla="*/ 536193 h 536193"/>
                <a:gd name="connsiteX0" fmla="*/ 750886 w 978561"/>
                <a:gd name="connsiteY0" fmla="*/ 271643 h 548662"/>
                <a:gd name="connsiteX1" fmla="*/ 824705 w 978561"/>
                <a:gd name="connsiteY1" fmla="*/ 191475 h 548662"/>
                <a:gd name="connsiteX2" fmla="*/ 879474 w 978561"/>
                <a:gd name="connsiteY2" fmla="*/ 146231 h 548662"/>
                <a:gd name="connsiteX3" fmla="*/ 946943 w 978561"/>
                <a:gd name="connsiteY3" fmla="*/ 124006 h 548662"/>
                <a:gd name="connsiteX4" fmla="*/ 972343 w 978561"/>
                <a:gd name="connsiteY4" fmla="*/ 74794 h 548662"/>
                <a:gd name="connsiteX5" fmla="*/ 833436 w 978561"/>
                <a:gd name="connsiteY5" fmla="*/ 16056 h 548662"/>
                <a:gd name="connsiteX6" fmla="*/ 646907 w 978561"/>
                <a:gd name="connsiteY6" fmla="*/ 38280 h 548662"/>
                <a:gd name="connsiteX7" fmla="*/ 395287 w 978561"/>
                <a:gd name="connsiteY7" fmla="*/ 195445 h 548662"/>
                <a:gd name="connsiteX8" fmla="*/ 220517 w 978561"/>
                <a:gd name="connsiteY8" fmla="*/ 338451 h 548662"/>
                <a:gd name="connsiteX9" fmla="*/ 0 w 978561"/>
                <a:gd name="connsiteY9" fmla="*/ 548662 h 548662"/>
                <a:gd name="connsiteX0" fmla="*/ 750886 w 978561"/>
                <a:gd name="connsiteY0" fmla="*/ 259175 h 536194"/>
                <a:gd name="connsiteX1" fmla="*/ 824705 w 978561"/>
                <a:gd name="connsiteY1" fmla="*/ 179007 h 536194"/>
                <a:gd name="connsiteX2" fmla="*/ 879474 w 978561"/>
                <a:gd name="connsiteY2" fmla="*/ 133763 h 536194"/>
                <a:gd name="connsiteX3" fmla="*/ 946943 w 978561"/>
                <a:gd name="connsiteY3" fmla="*/ 111538 h 536194"/>
                <a:gd name="connsiteX4" fmla="*/ 972343 w 978561"/>
                <a:gd name="connsiteY4" fmla="*/ 62326 h 536194"/>
                <a:gd name="connsiteX5" fmla="*/ 833436 w 978561"/>
                <a:gd name="connsiteY5" fmla="*/ 3588 h 536194"/>
                <a:gd name="connsiteX6" fmla="*/ 646907 w 978561"/>
                <a:gd name="connsiteY6" fmla="*/ 25812 h 536194"/>
                <a:gd name="connsiteX7" fmla="*/ 395287 w 978561"/>
                <a:gd name="connsiteY7" fmla="*/ 182977 h 536194"/>
                <a:gd name="connsiteX8" fmla="*/ 220517 w 978561"/>
                <a:gd name="connsiteY8" fmla="*/ 325983 h 536194"/>
                <a:gd name="connsiteX9" fmla="*/ 0 w 978561"/>
                <a:gd name="connsiteY9" fmla="*/ 536194 h 536194"/>
                <a:gd name="connsiteX0" fmla="*/ 750886 w 978561"/>
                <a:gd name="connsiteY0" fmla="*/ 256564 h 533583"/>
                <a:gd name="connsiteX1" fmla="*/ 824705 w 978561"/>
                <a:gd name="connsiteY1" fmla="*/ 176396 h 533583"/>
                <a:gd name="connsiteX2" fmla="*/ 879474 w 978561"/>
                <a:gd name="connsiteY2" fmla="*/ 131152 h 533583"/>
                <a:gd name="connsiteX3" fmla="*/ 946943 w 978561"/>
                <a:gd name="connsiteY3" fmla="*/ 108927 h 533583"/>
                <a:gd name="connsiteX4" fmla="*/ 972343 w 978561"/>
                <a:gd name="connsiteY4" fmla="*/ 59715 h 533583"/>
                <a:gd name="connsiteX5" fmla="*/ 833436 w 978561"/>
                <a:gd name="connsiteY5" fmla="*/ 977 h 533583"/>
                <a:gd name="connsiteX6" fmla="*/ 458788 w 978561"/>
                <a:gd name="connsiteY6" fmla="*/ 35108 h 533583"/>
                <a:gd name="connsiteX7" fmla="*/ 395287 w 978561"/>
                <a:gd name="connsiteY7" fmla="*/ 180366 h 533583"/>
                <a:gd name="connsiteX8" fmla="*/ 220517 w 978561"/>
                <a:gd name="connsiteY8" fmla="*/ 323372 h 533583"/>
                <a:gd name="connsiteX9" fmla="*/ 0 w 978561"/>
                <a:gd name="connsiteY9" fmla="*/ 533583 h 533583"/>
                <a:gd name="connsiteX0" fmla="*/ 750886 w 978888"/>
                <a:gd name="connsiteY0" fmla="*/ 339086 h 616105"/>
                <a:gd name="connsiteX1" fmla="*/ 824705 w 978888"/>
                <a:gd name="connsiteY1" fmla="*/ 258918 h 616105"/>
                <a:gd name="connsiteX2" fmla="*/ 879474 w 978888"/>
                <a:gd name="connsiteY2" fmla="*/ 213674 h 616105"/>
                <a:gd name="connsiteX3" fmla="*/ 946943 w 978888"/>
                <a:gd name="connsiteY3" fmla="*/ 191449 h 616105"/>
                <a:gd name="connsiteX4" fmla="*/ 972343 w 978888"/>
                <a:gd name="connsiteY4" fmla="*/ 142237 h 616105"/>
                <a:gd name="connsiteX5" fmla="*/ 828674 w 978888"/>
                <a:gd name="connsiteY5" fmla="*/ 155 h 616105"/>
                <a:gd name="connsiteX6" fmla="*/ 458788 w 978888"/>
                <a:gd name="connsiteY6" fmla="*/ 117630 h 616105"/>
                <a:gd name="connsiteX7" fmla="*/ 395287 w 978888"/>
                <a:gd name="connsiteY7" fmla="*/ 262888 h 616105"/>
                <a:gd name="connsiteX8" fmla="*/ 220517 w 978888"/>
                <a:gd name="connsiteY8" fmla="*/ 405894 h 616105"/>
                <a:gd name="connsiteX9" fmla="*/ 0 w 978888"/>
                <a:gd name="connsiteY9" fmla="*/ 616105 h 616105"/>
                <a:gd name="connsiteX0" fmla="*/ 750886 w 978888"/>
                <a:gd name="connsiteY0" fmla="*/ 344575 h 621594"/>
                <a:gd name="connsiteX1" fmla="*/ 824705 w 978888"/>
                <a:gd name="connsiteY1" fmla="*/ 264407 h 621594"/>
                <a:gd name="connsiteX2" fmla="*/ 879474 w 978888"/>
                <a:gd name="connsiteY2" fmla="*/ 219163 h 621594"/>
                <a:gd name="connsiteX3" fmla="*/ 946943 w 978888"/>
                <a:gd name="connsiteY3" fmla="*/ 196938 h 621594"/>
                <a:gd name="connsiteX4" fmla="*/ 972343 w 978888"/>
                <a:gd name="connsiteY4" fmla="*/ 147726 h 621594"/>
                <a:gd name="connsiteX5" fmla="*/ 828674 w 978888"/>
                <a:gd name="connsiteY5" fmla="*/ 5644 h 621594"/>
                <a:gd name="connsiteX6" fmla="*/ 680097 w 978888"/>
                <a:gd name="connsiteY6" fmla="*/ 37524 h 621594"/>
                <a:gd name="connsiteX7" fmla="*/ 458788 w 978888"/>
                <a:gd name="connsiteY7" fmla="*/ 123119 h 621594"/>
                <a:gd name="connsiteX8" fmla="*/ 395287 w 978888"/>
                <a:gd name="connsiteY8" fmla="*/ 268377 h 621594"/>
                <a:gd name="connsiteX9" fmla="*/ 220517 w 978888"/>
                <a:gd name="connsiteY9" fmla="*/ 411383 h 621594"/>
                <a:gd name="connsiteX10" fmla="*/ 0 w 978888"/>
                <a:gd name="connsiteY10" fmla="*/ 621594 h 621594"/>
                <a:gd name="connsiteX0" fmla="*/ 750886 w 992009"/>
                <a:gd name="connsiteY0" fmla="*/ 339633 h 616652"/>
                <a:gd name="connsiteX1" fmla="*/ 824705 w 992009"/>
                <a:gd name="connsiteY1" fmla="*/ 259465 h 616652"/>
                <a:gd name="connsiteX2" fmla="*/ 879474 w 992009"/>
                <a:gd name="connsiteY2" fmla="*/ 214221 h 616652"/>
                <a:gd name="connsiteX3" fmla="*/ 946943 w 992009"/>
                <a:gd name="connsiteY3" fmla="*/ 191996 h 616652"/>
                <a:gd name="connsiteX4" fmla="*/ 972343 w 992009"/>
                <a:gd name="connsiteY4" fmla="*/ 142784 h 616652"/>
                <a:gd name="connsiteX5" fmla="*/ 982516 w 992009"/>
                <a:gd name="connsiteY5" fmla="*/ 58776 h 616652"/>
                <a:gd name="connsiteX6" fmla="*/ 828674 w 992009"/>
                <a:gd name="connsiteY6" fmla="*/ 702 h 616652"/>
                <a:gd name="connsiteX7" fmla="*/ 680097 w 992009"/>
                <a:gd name="connsiteY7" fmla="*/ 32582 h 616652"/>
                <a:gd name="connsiteX8" fmla="*/ 458788 w 992009"/>
                <a:gd name="connsiteY8" fmla="*/ 118177 h 616652"/>
                <a:gd name="connsiteX9" fmla="*/ 395287 w 992009"/>
                <a:gd name="connsiteY9" fmla="*/ 263435 h 616652"/>
                <a:gd name="connsiteX10" fmla="*/ 220517 w 992009"/>
                <a:gd name="connsiteY10" fmla="*/ 406441 h 616652"/>
                <a:gd name="connsiteX11" fmla="*/ 0 w 992009"/>
                <a:gd name="connsiteY11" fmla="*/ 616652 h 616652"/>
                <a:gd name="connsiteX0" fmla="*/ 750886 w 1004105"/>
                <a:gd name="connsiteY0" fmla="*/ 339633 h 616652"/>
                <a:gd name="connsiteX1" fmla="*/ 824705 w 1004105"/>
                <a:gd name="connsiteY1" fmla="*/ 259465 h 616652"/>
                <a:gd name="connsiteX2" fmla="*/ 879474 w 1004105"/>
                <a:gd name="connsiteY2" fmla="*/ 214221 h 616652"/>
                <a:gd name="connsiteX3" fmla="*/ 946943 w 1004105"/>
                <a:gd name="connsiteY3" fmla="*/ 191996 h 616652"/>
                <a:gd name="connsiteX4" fmla="*/ 1000918 w 1004105"/>
                <a:gd name="connsiteY4" fmla="*/ 157071 h 616652"/>
                <a:gd name="connsiteX5" fmla="*/ 982516 w 1004105"/>
                <a:gd name="connsiteY5" fmla="*/ 58776 h 616652"/>
                <a:gd name="connsiteX6" fmla="*/ 828674 w 1004105"/>
                <a:gd name="connsiteY6" fmla="*/ 702 h 616652"/>
                <a:gd name="connsiteX7" fmla="*/ 680097 w 1004105"/>
                <a:gd name="connsiteY7" fmla="*/ 32582 h 616652"/>
                <a:gd name="connsiteX8" fmla="*/ 458788 w 1004105"/>
                <a:gd name="connsiteY8" fmla="*/ 118177 h 616652"/>
                <a:gd name="connsiteX9" fmla="*/ 395287 w 1004105"/>
                <a:gd name="connsiteY9" fmla="*/ 263435 h 616652"/>
                <a:gd name="connsiteX10" fmla="*/ 220517 w 1004105"/>
                <a:gd name="connsiteY10" fmla="*/ 406441 h 616652"/>
                <a:gd name="connsiteX11" fmla="*/ 0 w 1004105"/>
                <a:gd name="connsiteY11" fmla="*/ 616652 h 616652"/>
                <a:gd name="connsiteX0" fmla="*/ 750886 w 1001738"/>
                <a:gd name="connsiteY0" fmla="*/ 339185 h 616204"/>
                <a:gd name="connsiteX1" fmla="*/ 824705 w 1001738"/>
                <a:gd name="connsiteY1" fmla="*/ 259017 h 616204"/>
                <a:gd name="connsiteX2" fmla="*/ 879474 w 1001738"/>
                <a:gd name="connsiteY2" fmla="*/ 213773 h 616204"/>
                <a:gd name="connsiteX3" fmla="*/ 946943 w 1001738"/>
                <a:gd name="connsiteY3" fmla="*/ 191548 h 616204"/>
                <a:gd name="connsiteX4" fmla="*/ 1000918 w 1001738"/>
                <a:gd name="connsiteY4" fmla="*/ 156623 h 616204"/>
                <a:gd name="connsiteX5" fmla="*/ 970609 w 1001738"/>
                <a:gd name="connsiteY5" fmla="*/ 46422 h 616204"/>
                <a:gd name="connsiteX6" fmla="*/ 828674 w 1001738"/>
                <a:gd name="connsiteY6" fmla="*/ 254 h 616204"/>
                <a:gd name="connsiteX7" fmla="*/ 680097 w 1001738"/>
                <a:gd name="connsiteY7" fmla="*/ 32134 h 616204"/>
                <a:gd name="connsiteX8" fmla="*/ 458788 w 1001738"/>
                <a:gd name="connsiteY8" fmla="*/ 117729 h 616204"/>
                <a:gd name="connsiteX9" fmla="*/ 395287 w 1001738"/>
                <a:gd name="connsiteY9" fmla="*/ 262987 h 616204"/>
                <a:gd name="connsiteX10" fmla="*/ 220517 w 1001738"/>
                <a:gd name="connsiteY10" fmla="*/ 405993 h 616204"/>
                <a:gd name="connsiteX11" fmla="*/ 0 w 1001738"/>
                <a:gd name="connsiteY11" fmla="*/ 616204 h 616204"/>
                <a:gd name="connsiteX0" fmla="*/ 750886 w 1008619"/>
                <a:gd name="connsiteY0" fmla="*/ 339185 h 616204"/>
                <a:gd name="connsiteX1" fmla="*/ 824705 w 1008619"/>
                <a:gd name="connsiteY1" fmla="*/ 259017 h 616204"/>
                <a:gd name="connsiteX2" fmla="*/ 879474 w 1008619"/>
                <a:gd name="connsiteY2" fmla="*/ 213773 h 616204"/>
                <a:gd name="connsiteX3" fmla="*/ 946943 w 1008619"/>
                <a:gd name="connsiteY3" fmla="*/ 191548 h 616204"/>
                <a:gd name="connsiteX4" fmla="*/ 1008062 w 1008619"/>
                <a:gd name="connsiteY4" fmla="*/ 118523 h 616204"/>
                <a:gd name="connsiteX5" fmla="*/ 970609 w 1008619"/>
                <a:gd name="connsiteY5" fmla="*/ 46422 h 616204"/>
                <a:gd name="connsiteX6" fmla="*/ 828674 w 1008619"/>
                <a:gd name="connsiteY6" fmla="*/ 254 h 616204"/>
                <a:gd name="connsiteX7" fmla="*/ 680097 w 1008619"/>
                <a:gd name="connsiteY7" fmla="*/ 32134 h 616204"/>
                <a:gd name="connsiteX8" fmla="*/ 458788 w 1008619"/>
                <a:gd name="connsiteY8" fmla="*/ 117729 h 616204"/>
                <a:gd name="connsiteX9" fmla="*/ 395287 w 1008619"/>
                <a:gd name="connsiteY9" fmla="*/ 262987 h 616204"/>
                <a:gd name="connsiteX10" fmla="*/ 220517 w 1008619"/>
                <a:gd name="connsiteY10" fmla="*/ 405993 h 616204"/>
                <a:gd name="connsiteX11" fmla="*/ 0 w 1008619"/>
                <a:gd name="connsiteY11" fmla="*/ 616204 h 616204"/>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95287 w 1008619"/>
                <a:gd name="connsiteY9" fmla="*/ 264759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220517 w 1008619"/>
                <a:gd name="connsiteY10" fmla="*/ 407765 h 617976"/>
                <a:gd name="connsiteX11" fmla="*/ 0 w 1008619"/>
                <a:gd name="connsiteY11" fmla="*/ 617976 h 617976"/>
                <a:gd name="connsiteX0" fmla="*/ 750886 w 1008619"/>
                <a:gd name="connsiteY0" fmla="*/ 340957 h 617976"/>
                <a:gd name="connsiteX1" fmla="*/ 824705 w 1008619"/>
                <a:gd name="connsiteY1" fmla="*/ 260789 h 617976"/>
                <a:gd name="connsiteX2" fmla="*/ 879474 w 1008619"/>
                <a:gd name="connsiteY2" fmla="*/ 215545 h 617976"/>
                <a:gd name="connsiteX3" fmla="*/ 946943 w 1008619"/>
                <a:gd name="connsiteY3" fmla="*/ 193320 h 617976"/>
                <a:gd name="connsiteX4" fmla="*/ 1008062 w 1008619"/>
                <a:gd name="connsiteY4" fmla="*/ 120295 h 617976"/>
                <a:gd name="connsiteX5" fmla="*/ 970609 w 1008619"/>
                <a:gd name="connsiteY5" fmla="*/ 48194 h 617976"/>
                <a:gd name="connsiteX6" fmla="*/ 828674 w 1008619"/>
                <a:gd name="connsiteY6" fmla="*/ 2026 h 617976"/>
                <a:gd name="connsiteX7" fmla="*/ 625328 w 1008619"/>
                <a:gd name="connsiteY7" fmla="*/ 19619 h 617976"/>
                <a:gd name="connsiteX8" fmla="*/ 458788 w 1008619"/>
                <a:gd name="connsiteY8" fmla="*/ 119501 h 617976"/>
                <a:gd name="connsiteX9" fmla="*/ 302418 w 1008619"/>
                <a:gd name="connsiteY9" fmla="*/ 233802 h 617976"/>
                <a:gd name="connsiteX10" fmla="*/ 125267 w 1008619"/>
                <a:gd name="connsiteY10" fmla="*/ 436340 h 617976"/>
                <a:gd name="connsiteX11" fmla="*/ 0 w 1008619"/>
                <a:gd name="connsiteY11" fmla="*/ 617976 h 617976"/>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527844 w 1077675"/>
                <a:gd name="connsiteY8" fmla="*/ 119501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56407 w 1077675"/>
                <a:gd name="connsiteY8" fmla="*/ 124264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437357 w 1077675"/>
                <a:gd name="connsiteY8" fmla="*/ 186176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40957 h 648932"/>
                <a:gd name="connsiteX1" fmla="*/ 893761 w 1077675"/>
                <a:gd name="connsiteY1" fmla="*/ 260789 h 648932"/>
                <a:gd name="connsiteX2" fmla="*/ 948530 w 1077675"/>
                <a:gd name="connsiteY2" fmla="*/ 215545 h 648932"/>
                <a:gd name="connsiteX3" fmla="*/ 1015999 w 1077675"/>
                <a:gd name="connsiteY3" fmla="*/ 193320 h 648932"/>
                <a:gd name="connsiteX4" fmla="*/ 1077118 w 1077675"/>
                <a:gd name="connsiteY4" fmla="*/ 120295 h 648932"/>
                <a:gd name="connsiteX5" fmla="*/ 1039665 w 1077675"/>
                <a:gd name="connsiteY5" fmla="*/ 48194 h 648932"/>
                <a:gd name="connsiteX6" fmla="*/ 897730 w 1077675"/>
                <a:gd name="connsiteY6" fmla="*/ 2026 h 648932"/>
                <a:gd name="connsiteX7" fmla="*/ 694384 w 1077675"/>
                <a:gd name="connsiteY7" fmla="*/ 19619 h 648932"/>
                <a:gd name="connsiteX8" fmla="*/ 361157 w 1077675"/>
                <a:gd name="connsiteY8" fmla="*/ 155219 h 648932"/>
                <a:gd name="connsiteX9" fmla="*/ 371474 w 1077675"/>
                <a:gd name="connsiteY9" fmla="*/ 233802 h 648932"/>
                <a:gd name="connsiteX10" fmla="*/ 194323 w 1077675"/>
                <a:gd name="connsiteY10" fmla="*/ 436340 h 648932"/>
                <a:gd name="connsiteX11" fmla="*/ 0 w 1077675"/>
                <a:gd name="connsiteY11" fmla="*/ 648932 h 648932"/>
                <a:gd name="connsiteX0" fmla="*/ 819942 w 1077675"/>
                <a:gd name="connsiteY0" fmla="*/ 339026 h 647001"/>
                <a:gd name="connsiteX1" fmla="*/ 893761 w 1077675"/>
                <a:gd name="connsiteY1" fmla="*/ 258858 h 647001"/>
                <a:gd name="connsiteX2" fmla="*/ 948530 w 1077675"/>
                <a:gd name="connsiteY2" fmla="*/ 213614 h 647001"/>
                <a:gd name="connsiteX3" fmla="*/ 1015999 w 1077675"/>
                <a:gd name="connsiteY3" fmla="*/ 191389 h 647001"/>
                <a:gd name="connsiteX4" fmla="*/ 1077118 w 1077675"/>
                <a:gd name="connsiteY4" fmla="*/ 118364 h 647001"/>
                <a:gd name="connsiteX5" fmla="*/ 1039665 w 1077675"/>
                <a:gd name="connsiteY5" fmla="*/ 46263 h 647001"/>
                <a:gd name="connsiteX6" fmla="*/ 897730 w 1077675"/>
                <a:gd name="connsiteY6" fmla="*/ 95 h 647001"/>
                <a:gd name="connsiteX7" fmla="*/ 556271 w 1077675"/>
                <a:gd name="connsiteY7" fmla="*/ 36738 h 647001"/>
                <a:gd name="connsiteX8" fmla="*/ 361157 w 1077675"/>
                <a:gd name="connsiteY8" fmla="*/ 153288 h 647001"/>
                <a:gd name="connsiteX9" fmla="*/ 371474 w 1077675"/>
                <a:gd name="connsiteY9" fmla="*/ 231871 h 647001"/>
                <a:gd name="connsiteX10" fmla="*/ 194323 w 1077675"/>
                <a:gd name="connsiteY10" fmla="*/ 434409 h 647001"/>
                <a:gd name="connsiteX11" fmla="*/ 0 w 1077675"/>
                <a:gd name="connsiteY11" fmla="*/ 647001 h 647001"/>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371474 w 1077675"/>
                <a:gd name="connsiteY10" fmla="*/ 239302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94323 w 1077675"/>
                <a:gd name="connsiteY11" fmla="*/ 441840 h 654432"/>
                <a:gd name="connsiteX12" fmla="*/ 0 w 1077675"/>
                <a:gd name="connsiteY12" fmla="*/ 654432 h 654432"/>
                <a:gd name="connsiteX0" fmla="*/ 819942 w 1077675"/>
                <a:gd name="connsiteY0" fmla="*/ 346457 h 654432"/>
                <a:gd name="connsiteX1" fmla="*/ 893761 w 1077675"/>
                <a:gd name="connsiteY1" fmla="*/ 266289 h 654432"/>
                <a:gd name="connsiteX2" fmla="*/ 948530 w 1077675"/>
                <a:gd name="connsiteY2" fmla="*/ 221045 h 654432"/>
                <a:gd name="connsiteX3" fmla="*/ 1015999 w 1077675"/>
                <a:gd name="connsiteY3" fmla="*/ 198820 h 654432"/>
                <a:gd name="connsiteX4" fmla="*/ 1077118 w 1077675"/>
                <a:gd name="connsiteY4" fmla="*/ 125795 h 654432"/>
                <a:gd name="connsiteX5" fmla="*/ 1039665 w 1077675"/>
                <a:gd name="connsiteY5" fmla="*/ 53694 h 654432"/>
                <a:gd name="connsiteX6" fmla="*/ 897730 w 1077675"/>
                <a:gd name="connsiteY6" fmla="*/ 7526 h 654432"/>
                <a:gd name="connsiteX7" fmla="*/ 753916 w 1077675"/>
                <a:gd name="connsiteY7" fmla="*/ 3687 h 654432"/>
                <a:gd name="connsiteX8" fmla="*/ 556271 w 1077675"/>
                <a:gd name="connsiteY8" fmla="*/ 44169 h 654432"/>
                <a:gd name="connsiteX9" fmla="*/ 361157 w 1077675"/>
                <a:gd name="connsiteY9" fmla="*/ 160719 h 654432"/>
                <a:gd name="connsiteX10" fmla="*/ 245267 w 1077675"/>
                <a:gd name="connsiteY10" fmla="*/ 260733 h 654432"/>
                <a:gd name="connsiteX11" fmla="*/ 132411 w 1077675"/>
                <a:gd name="connsiteY11" fmla="*/ 387071 h 654432"/>
                <a:gd name="connsiteX12" fmla="*/ 0 w 1077675"/>
                <a:gd name="connsiteY12" fmla="*/ 654432 h 654432"/>
                <a:gd name="connsiteX0" fmla="*/ 687531 w 945264"/>
                <a:gd name="connsiteY0" fmla="*/ 346457 h 387071"/>
                <a:gd name="connsiteX1" fmla="*/ 761350 w 945264"/>
                <a:gd name="connsiteY1" fmla="*/ 266289 h 387071"/>
                <a:gd name="connsiteX2" fmla="*/ 816119 w 945264"/>
                <a:gd name="connsiteY2" fmla="*/ 221045 h 387071"/>
                <a:gd name="connsiteX3" fmla="*/ 883588 w 945264"/>
                <a:gd name="connsiteY3" fmla="*/ 198820 h 387071"/>
                <a:gd name="connsiteX4" fmla="*/ 944707 w 945264"/>
                <a:gd name="connsiteY4" fmla="*/ 125795 h 387071"/>
                <a:gd name="connsiteX5" fmla="*/ 907254 w 945264"/>
                <a:gd name="connsiteY5" fmla="*/ 53694 h 387071"/>
                <a:gd name="connsiteX6" fmla="*/ 765319 w 945264"/>
                <a:gd name="connsiteY6" fmla="*/ 7526 h 387071"/>
                <a:gd name="connsiteX7" fmla="*/ 621505 w 945264"/>
                <a:gd name="connsiteY7" fmla="*/ 3687 h 387071"/>
                <a:gd name="connsiteX8" fmla="*/ 423860 w 945264"/>
                <a:gd name="connsiteY8" fmla="*/ 44169 h 387071"/>
                <a:gd name="connsiteX9" fmla="*/ 228746 w 945264"/>
                <a:gd name="connsiteY9" fmla="*/ 160719 h 387071"/>
                <a:gd name="connsiteX10" fmla="*/ 112856 w 945264"/>
                <a:gd name="connsiteY10" fmla="*/ 260733 h 387071"/>
                <a:gd name="connsiteX11" fmla="*/ 0 w 945264"/>
                <a:gd name="connsiteY11" fmla="*/ 387071 h 387071"/>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483391 w 1004795"/>
                <a:gd name="connsiteY8" fmla="*/ 44169 h 434696"/>
                <a:gd name="connsiteX9" fmla="*/ 288277 w 1004795"/>
                <a:gd name="connsiteY9" fmla="*/ 160719 h 434696"/>
                <a:gd name="connsiteX10" fmla="*/ 172387 w 1004795"/>
                <a:gd name="connsiteY10" fmla="*/ 260733 h 434696"/>
                <a:gd name="connsiteX11" fmla="*/ 0 w 1004795"/>
                <a:gd name="connsiteY11" fmla="*/ 434696 h 434696"/>
                <a:gd name="connsiteX0" fmla="*/ 747062 w 1004795"/>
                <a:gd name="connsiteY0" fmla="*/ 346457 h 434696"/>
                <a:gd name="connsiteX1" fmla="*/ 820881 w 1004795"/>
                <a:gd name="connsiteY1" fmla="*/ 266289 h 434696"/>
                <a:gd name="connsiteX2" fmla="*/ 875650 w 1004795"/>
                <a:gd name="connsiteY2" fmla="*/ 221045 h 434696"/>
                <a:gd name="connsiteX3" fmla="*/ 943119 w 1004795"/>
                <a:gd name="connsiteY3" fmla="*/ 198820 h 434696"/>
                <a:gd name="connsiteX4" fmla="*/ 1004238 w 1004795"/>
                <a:gd name="connsiteY4" fmla="*/ 125795 h 434696"/>
                <a:gd name="connsiteX5" fmla="*/ 966785 w 1004795"/>
                <a:gd name="connsiteY5" fmla="*/ 53694 h 434696"/>
                <a:gd name="connsiteX6" fmla="*/ 824850 w 1004795"/>
                <a:gd name="connsiteY6" fmla="*/ 7526 h 434696"/>
                <a:gd name="connsiteX7" fmla="*/ 681036 w 1004795"/>
                <a:gd name="connsiteY7" fmla="*/ 3687 h 434696"/>
                <a:gd name="connsiteX8" fmla="*/ 354804 w 1004795"/>
                <a:gd name="connsiteY8" fmla="*/ 239431 h 434696"/>
                <a:gd name="connsiteX9" fmla="*/ 288277 w 1004795"/>
                <a:gd name="connsiteY9" fmla="*/ 160719 h 434696"/>
                <a:gd name="connsiteX10" fmla="*/ 172387 w 1004795"/>
                <a:gd name="connsiteY10" fmla="*/ 260733 h 434696"/>
                <a:gd name="connsiteX11" fmla="*/ 0 w 1004795"/>
                <a:gd name="connsiteY11" fmla="*/ 434696 h 434696"/>
                <a:gd name="connsiteX0" fmla="*/ 1131314 w 1389047"/>
                <a:gd name="connsiteY0" fmla="*/ 346457 h 434696"/>
                <a:gd name="connsiteX1" fmla="*/ 1205133 w 1389047"/>
                <a:gd name="connsiteY1" fmla="*/ 266289 h 434696"/>
                <a:gd name="connsiteX2" fmla="*/ 1259902 w 1389047"/>
                <a:gd name="connsiteY2" fmla="*/ 221045 h 434696"/>
                <a:gd name="connsiteX3" fmla="*/ 1327371 w 1389047"/>
                <a:gd name="connsiteY3" fmla="*/ 198820 h 434696"/>
                <a:gd name="connsiteX4" fmla="*/ 1388490 w 1389047"/>
                <a:gd name="connsiteY4" fmla="*/ 125795 h 434696"/>
                <a:gd name="connsiteX5" fmla="*/ 1351037 w 1389047"/>
                <a:gd name="connsiteY5" fmla="*/ 53694 h 434696"/>
                <a:gd name="connsiteX6" fmla="*/ 1209102 w 1389047"/>
                <a:gd name="connsiteY6" fmla="*/ 7526 h 434696"/>
                <a:gd name="connsiteX7" fmla="*/ 1065288 w 1389047"/>
                <a:gd name="connsiteY7" fmla="*/ 3687 h 434696"/>
                <a:gd name="connsiteX8" fmla="*/ 739056 w 1389047"/>
                <a:gd name="connsiteY8" fmla="*/ 239431 h 434696"/>
                <a:gd name="connsiteX9" fmla="*/ 1017 w 1389047"/>
                <a:gd name="connsiteY9" fmla="*/ 122619 h 434696"/>
                <a:gd name="connsiteX10" fmla="*/ 556639 w 1389047"/>
                <a:gd name="connsiteY10" fmla="*/ 260733 h 434696"/>
                <a:gd name="connsiteX11" fmla="*/ 384252 w 1389047"/>
                <a:gd name="connsiteY11" fmla="*/ 434696 h 434696"/>
                <a:gd name="connsiteX0" fmla="*/ 1130685 w 1388418"/>
                <a:gd name="connsiteY0" fmla="*/ 346457 h 434696"/>
                <a:gd name="connsiteX1" fmla="*/ 1204504 w 1388418"/>
                <a:gd name="connsiteY1" fmla="*/ 266289 h 434696"/>
                <a:gd name="connsiteX2" fmla="*/ 1259273 w 1388418"/>
                <a:gd name="connsiteY2" fmla="*/ 221045 h 434696"/>
                <a:gd name="connsiteX3" fmla="*/ 1326742 w 1388418"/>
                <a:gd name="connsiteY3" fmla="*/ 198820 h 434696"/>
                <a:gd name="connsiteX4" fmla="*/ 1387861 w 1388418"/>
                <a:gd name="connsiteY4" fmla="*/ 125795 h 434696"/>
                <a:gd name="connsiteX5" fmla="*/ 1350408 w 1388418"/>
                <a:gd name="connsiteY5" fmla="*/ 53694 h 434696"/>
                <a:gd name="connsiteX6" fmla="*/ 1208473 w 1388418"/>
                <a:gd name="connsiteY6" fmla="*/ 7526 h 434696"/>
                <a:gd name="connsiteX7" fmla="*/ 1064659 w 1388418"/>
                <a:gd name="connsiteY7" fmla="*/ 3687 h 434696"/>
                <a:gd name="connsiteX8" fmla="*/ 466965 w 1388418"/>
                <a:gd name="connsiteY8" fmla="*/ 201331 h 434696"/>
                <a:gd name="connsiteX9" fmla="*/ 388 w 1388418"/>
                <a:gd name="connsiteY9" fmla="*/ 122619 h 434696"/>
                <a:gd name="connsiteX10" fmla="*/ 556010 w 1388418"/>
                <a:gd name="connsiteY10" fmla="*/ 260733 h 434696"/>
                <a:gd name="connsiteX11" fmla="*/ 383623 w 1388418"/>
                <a:gd name="connsiteY11" fmla="*/ 434696 h 434696"/>
                <a:gd name="connsiteX0" fmla="*/ 796343 w 1054076"/>
                <a:gd name="connsiteY0" fmla="*/ 346457 h 434696"/>
                <a:gd name="connsiteX1" fmla="*/ 870162 w 1054076"/>
                <a:gd name="connsiteY1" fmla="*/ 266289 h 434696"/>
                <a:gd name="connsiteX2" fmla="*/ 924931 w 1054076"/>
                <a:gd name="connsiteY2" fmla="*/ 221045 h 434696"/>
                <a:gd name="connsiteX3" fmla="*/ 992400 w 1054076"/>
                <a:gd name="connsiteY3" fmla="*/ 198820 h 434696"/>
                <a:gd name="connsiteX4" fmla="*/ 1053519 w 1054076"/>
                <a:gd name="connsiteY4" fmla="*/ 125795 h 434696"/>
                <a:gd name="connsiteX5" fmla="*/ 1016066 w 1054076"/>
                <a:gd name="connsiteY5" fmla="*/ 53694 h 434696"/>
                <a:gd name="connsiteX6" fmla="*/ 874131 w 1054076"/>
                <a:gd name="connsiteY6" fmla="*/ 7526 h 434696"/>
                <a:gd name="connsiteX7" fmla="*/ 730317 w 1054076"/>
                <a:gd name="connsiteY7" fmla="*/ 3687 h 434696"/>
                <a:gd name="connsiteX8" fmla="*/ 132623 w 1054076"/>
                <a:gd name="connsiteY8" fmla="*/ 201331 h 434696"/>
                <a:gd name="connsiteX9" fmla="*/ 1802 w 1054076"/>
                <a:gd name="connsiteY9" fmla="*/ 163100 h 434696"/>
                <a:gd name="connsiteX10" fmla="*/ 221668 w 1054076"/>
                <a:gd name="connsiteY10" fmla="*/ 260733 h 434696"/>
                <a:gd name="connsiteX11" fmla="*/ 49281 w 1054076"/>
                <a:gd name="connsiteY11" fmla="*/ 434696 h 434696"/>
                <a:gd name="connsiteX0" fmla="*/ 796343 w 1054076"/>
                <a:gd name="connsiteY0" fmla="*/ 339329 h 427568"/>
                <a:gd name="connsiteX1" fmla="*/ 870162 w 1054076"/>
                <a:gd name="connsiteY1" fmla="*/ 259161 h 427568"/>
                <a:gd name="connsiteX2" fmla="*/ 924931 w 1054076"/>
                <a:gd name="connsiteY2" fmla="*/ 213917 h 427568"/>
                <a:gd name="connsiteX3" fmla="*/ 992400 w 1054076"/>
                <a:gd name="connsiteY3" fmla="*/ 191692 h 427568"/>
                <a:gd name="connsiteX4" fmla="*/ 1053519 w 1054076"/>
                <a:gd name="connsiteY4" fmla="*/ 118667 h 427568"/>
                <a:gd name="connsiteX5" fmla="*/ 1016066 w 1054076"/>
                <a:gd name="connsiteY5" fmla="*/ 46566 h 427568"/>
                <a:gd name="connsiteX6" fmla="*/ 874131 w 1054076"/>
                <a:gd name="connsiteY6" fmla="*/ 398 h 427568"/>
                <a:gd name="connsiteX7" fmla="*/ 399323 w 1054076"/>
                <a:gd name="connsiteY7" fmla="*/ 70377 h 427568"/>
                <a:gd name="connsiteX8" fmla="*/ 132623 w 1054076"/>
                <a:gd name="connsiteY8" fmla="*/ 194203 h 427568"/>
                <a:gd name="connsiteX9" fmla="*/ 1802 w 1054076"/>
                <a:gd name="connsiteY9" fmla="*/ 155972 h 427568"/>
                <a:gd name="connsiteX10" fmla="*/ 221668 w 1054076"/>
                <a:gd name="connsiteY10" fmla="*/ 253605 h 427568"/>
                <a:gd name="connsiteX11" fmla="*/ 49281 w 1054076"/>
                <a:gd name="connsiteY11" fmla="*/ 427568 h 427568"/>
                <a:gd name="connsiteX0" fmla="*/ 747062 w 1004795"/>
                <a:gd name="connsiteY0" fmla="*/ 339329 h 427568"/>
                <a:gd name="connsiteX1" fmla="*/ 820881 w 1004795"/>
                <a:gd name="connsiteY1" fmla="*/ 259161 h 427568"/>
                <a:gd name="connsiteX2" fmla="*/ 875650 w 1004795"/>
                <a:gd name="connsiteY2" fmla="*/ 213917 h 427568"/>
                <a:gd name="connsiteX3" fmla="*/ 943119 w 1004795"/>
                <a:gd name="connsiteY3" fmla="*/ 191692 h 427568"/>
                <a:gd name="connsiteX4" fmla="*/ 1004238 w 1004795"/>
                <a:gd name="connsiteY4" fmla="*/ 118667 h 427568"/>
                <a:gd name="connsiteX5" fmla="*/ 966785 w 1004795"/>
                <a:gd name="connsiteY5" fmla="*/ 46566 h 427568"/>
                <a:gd name="connsiteX6" fmla="*/ 824850 w 1004795"/>
                <a:gd name="connsiteY6" fmla="*/ 398 h 427568"/>
                <a:gd name="connsiteX7" fmla="*/ 350042 w 1004795"/>
                <a:gd name="connsiteY7" fmla="*/ 70377 h 427568"/>
                <a:gd name="connsiteX8" fmla="*/ 83342 w 1004795"/>
                <a:gd name="connsiteY8" fmla="*/ 194203 h 427568"/>
                <a:gd name="connsiteX9" fmla="*/ 188265 w 1004795"/>
                <a:gd name="connsiteY9" fmla="*/ 203597 h 427568"/>
                <a:gd name="connsiteX10" fmla="*/ 172387 w 1004795"/>
                <a:gd name="connsiteY10" fmla="*/ 253605 h 427568"/>
                <a:gd name="connsiteX11" fmla="*/ 0 w 100479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298525 w 1115055"/>
                <a:gd name="connsiteY9" fmla="*/ 203597 h 427568"/>
                <a:gd name="connsiteX10" fmla="*/ 42141 w 1115055"/>
                <a:gd name="connsiteY10" fmla="*/ 336949 h 427568"/>
                <a:gd name="connsiteX11" fmla="*/ 110260 w 1115055"/>
                <a:gd name="connsiteY11" fmla="*/ 427568 h 427568"/>
                <a:gd name="connsiteX0" fmla="*/ 857322 w 1115055"/>
                <a:gd name="connsiteY0" fmla="*/ 339329 h 427568"/>
                <a:gd name="connsiteX1" fmla="*/ 931141 w 1115055"/>
                <a:gd name="connsiteY1" fmla="*/ 259161 h 427568"/>
                <a:gd name="connsiteX2" fmla="*/ 985910 w 1115055"/>
                <a:gd name="connsiteY2" fmla="*/ 213917 h 427568"/>
                <a:gd name="connsiteX3" fmla="*/ 1053379 w 1115055"/>
                <a:gd name="connsiteY3" fmla="*/ 191692 h 427568"/>
                <a:gd name="connsiteX4" fmla="*/ 1114498 w 1115055"/>
                <a:gd name="connsiteY4" fmla="*/ 118667 h 427568"/>
                <a:gd name="connsiteX5" fmla="*/ 1077045 w 1115055"/>
                <a:gd name="connsiteY5" fmla="*/ 46566 h 427568"/>
                <a:gd name="connsiteX6" fmla="*/ 935110 w 1115055"/>
                <a:gd name="connsiteY6" fmla="*/ 398 h 427568"/>
                <a:gd name="connsiteX7" fmla="*/ 460302 w 1115055"/>
                <a:gd name="connsiteY7" fmla="*/ 70377 h 427568"/>
                <a:gd name="connsiteX8" fmla="*/ 193602 w 1115055"/>
                <a:gd name="connsiteY8" fmla="*/ 194203 h 427568"/>
                <a:gd name="connsiteX9" fmla="*/ 138981 w 1115055"/>
                <a:gd name="connsiteY9" fmla="*/ 263128 h 427568"/>
                <a:gd name="connsiteX10" fmla="*/ 42141 w 1115055"/>
                <a:gd name="connsiteY10" fmla="*/ 336949 h 427568"/>
                <a:gd name="connsiteX11" fmla="*/ 110260 w 1115055"/>
                <a:gd name="connsiteY11" fmla="*/ 427568 h 427568"/>
                <a:gd name="connsiteX0" fmla="*/ 899462 w 1157195"/>
                <a:gd name="connsiteY0" fmla="*/ 339329 h 448999"/>
                <a:gd name="connsiteX1" fmla="*/ 973281 w 1157195"/>
                <a:gd name="connsiteY1" fmla="*/ 259161 h 448999"/>
                <a:gd name="connsiteX2" fmla="*/ 1028050 w 1157195"/>
                <a:gd name="connsiteY2" fmla="*/ 213917 h 448999"/>
                <a:gd name="connsiteX3" fmla="*/ 1095519 w 1157195"/>
                <a:gd name="connsiteY3" fmla="*/ 191692 h 448999"/>
                <a:gd name="connsiteX4" fmla="*/ 1156638 w 1157195"/>
                <a:gd name="connsiteY4" fmla="*/ 118667 h 448999"/>
                <a:gd name="connsiteX5" fmla="*/ 1119185 w 1157195"/>
                <a:gd name="connsiteY5" fmla="*/ 46566 h 448999"/>
                <a:gd name="connsiteX6" fmla="*/ 977250 w 1157195"/>
                <a:gd name="connsiteY6" fmla="*/ 398 h 448999"/>
                <a:gd name="connsiteX7" fmla="*/ 502442 w 1157195"/>
                <a:gd name="connsiteY7" fmla="*/ 70377 h 448999"/>
                <a:gd name="connsiteX8" fmla="*/ 235742 w 1157195"/>
                <a:gd name="connsiteY8" fmla="*/ 194203 h 448999"/>
                <a:gd name="connsiteX9" fmla="*/ 181121 w 1157195"/>
                <a:gd name="connsiteY9" fmla="*/ 263128 h 448999"/>
                <a:gd name="connsiteX10" fmla="*/ 84281 w 1157195"/>
                <a:gd name="connsiteY10" fmla="*/ 336949 h 448999"/>
                <a:gd name="connsiteX11" fmla="*/ 0 w 1157195"/>
                <a:gd name="connsiteY11" fmla="*/ 448999 h 448999"/>
                <a:gd name="connsiteX0" fmla="*/ 899462 w 1157195"/>
                <a:gd name="connsiteY0" fmla="*/ 392238 h 501908"/>
                <a:gd name="connsiteX1" fmla="*/ 973281 w 1157195"/>
                <a:gd name="connsiteY1" fmla="*/ 312070 h 501908"/>
                <a:gd name="connsiteX2" fmla="*/ 1028050 w 1157195"/>
                <a:gd name="connsiteY2" fmla="*/ 266826 h 501908"/>
                <a:gd name="connsiteX3" fmla="*/ 1095519 w 1157195"/>
                <a:gd name="connsiteY3" fmla="*/ 244601 h 501908"/>
                <a:gd name="connsiteX4" fmla="*/ 1156638 w 1157195"/>
                <a:gd name="connsiteY4" fmla="*/ 171576 h 501908"/>
                <a:gd name="connsiteX5" fmla="*/ 1119185 w 1157195"/>
                <a:gd name="connsiteY5" fmla="*/ 99475 h 501908"/>
                <a:gd name="connsiteX6" fmla="*/ 977250 w 1157195"/>
                <a:gd name="connsiteY6" fmla="*/ 53307 h 501908"/>
                <a:gd name="connsiteX7" fmla="*/ 754853 w 1157195"/>
                <a:gd name="connsiteY7" fmla="*/ 1843 h 501908"/>
                <a:gd name="connsiteX8" fmla="*/ 502442 w 1157195"/>
                <a:gd name="connsiteY8" fmla="*/ 123286 h 501908"/>
                <a:gd name="connsiteX9" fmla="*/ 235742 w 1157195"/>
                <a:gd name="connsiteY9" fmla="*/ 247112 h 501908"/>
                <a:gd name="connsiteX10" fmla="*/ 181121 w 1157195"/>
                <a:gd name="connsiteY10" fmla="*/ 316037 h 501908"/>
                <a:gd name="connsiteX11" fmla="*/ 84281 w 1157195"/>
                <a:gd name="connsiteY11" fmla="*/ 389858 h 501908"/>
                <a:gd name="connsiteX12" fmla="*/ 0 w 1157195"/>
                <a:gd name="connsiteY12" fmla="*/ 501908 h 501908"/>
                <a:gd name="connsiteX0" fmla="*/ 899462 w 1157195"/>
                <a:gd name="connsiteY0" fmla="*/ 396361 h 506031"/>
                <a:gd name="connsiteX1" fmla="*/ 973281 w 1157195"/>
                <a:gd name="connsiteY1" fmla="*/ 316193 h 506031"/>
                <a:gd name="connsiteX2" fmla="*/ 1028050 w 1157195"/>
                <a:gd name="connsiteY2" fmla="*/ 270949 h 506031"/>
                <a:gd name="connsiteX3" fmla="*/ 1095519 w 1157195"/>
                <a:gd name="connsiteY3" fmla="*/ 248724 h 506031"/>
                <a:gd name="connsiteX4" fmla="*/ 1156638 w 1157195"/>
                <a:gd name="connsiteY4" fmla="*/ 175699 h 506031"/>
                <a:gd name="connsiteX5" fmla="*/ 1119185 w 1157195"/>
                <a:gd name="connsiteY5" fmla="*/ 103598 h 506031"/>
                <a:gd name="connsiteX6" fmla="*/ 1003444 w 1157195"/>
                <a:gd name="connsiteY6" fmla="*/ 16949 h 506031"/>
                <a:gd name="connsiteX7" fmla="*/ 754853 w 1157195"/>
                <a:gd name="connsiteY7" fmla="*/ 5966 h 506031"/>
                <a:gd name="connsiteX8" fmla="*/ 502442 w 1157195"/>
                <a:gd name="connsiteY8" fmla="*/ 127409 h 506031"/>
                <a:gd name="connsiteX9" fmla="*/ 235742 w 1157195"/>
                <a:gd name="connsiteY9" fmla="*/ 251235 h 506031"/>
                <a:gd name="connsiteX10" fmla="*/ 181121 w 1157195"/>
                <a:gd name="connsiteY10" fmla="*/ 320160 h 506031"/>
                <a:gd name="connsiteX11" fmla="*/ 84281 w 1157195"/>
                <a:gd name="connsiteY11" fmla="*/ 393981 h 506031"/>
                <a:gd name="connsiteX12" fmla="*/ 0 w 1157195"/>
                <a:gd name="connsiteY12" fmla="*/ 506031 h 506031"/>
                <a:gd name="connsiteX0" fmla="*/ 899462 w 1160354"/>
                <a:gd name="connsiteY0" fmla="*/ 396175 h 505845"/>
                <a:gd name="connsiteX1" fmla="*/ 973281 w 1160354"/>
                <a:gd name="connsiteY1" fmla="*/ 316007 h 505845"/>
                <a:gd name="connsiteX2" fmla="*/ 1028050 w 1160354"/>
                <a:gd name="connsiteY2" fmla="*/ 270763 h 505845"/>
                <a:gd name="connsiteX3" fmla="*/ 1095519 w 1160354"/>
                <a:gd name="connsiteY3" fmla="*/ 248538 h 505845"/>
                <a:gd name="connsiteX4" fmla="*/ 1156638 w 1160354"/>
                <a:gd name="connsiteY4" fmla="*/ 175513 h 505845"/>
                <a:gd name="connsiteX5" fmla="*/ 1138235 w 1160354"/>
                <a:gd name="connsiteY5" fmla="*/ 98650 h 505845"/>
                <a:gd name="connsiteX6" fmla="*/ 1003444 w 1160354"/>
                <a:gd name="connsiteY6" fmla="*/ 16763 h 505845"/>
                <a:gd name="connsiteX7" fmla="*/ 754853 w 1160354"/>
                <a:gd name="connsiteY7" fmla="*/ 5780 h 505845"/>
                <a:gd name="connsiteX8" fmla="*/ 502442 w 1160354"/>
                <a:gd name="connsiteY8" fmla="*/ 127223 h 505845"/>
                <a:gd name="connsiteX9" fmla="*/ 235742 w 1160354"/>
                <a:gd name="connsiteY9" fmla="*/ 251049 h 505845"/>
                <a:gd name="connsiteX10" fmla="*/ 181121 w 1160354"/>
                <a:gd name="connsiteY10" fmla="*/ 319974 h 505845"/>
                <a:gd name="connsiteX11" fmla="*/ 84281 w 1160354"/>
                <a:gd name="connsiteY11" fmla="*/ 393795 h 505845"/>
                <a:gd name="connsiteX12" fmla="*/ 0 w 1160354"/>
                <a:gd name="connsiteY12" fmla="*/ 505845 h 50584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502442 w 1160354"/>
                <a:gd name="connsiteY8" fmla="*/ 119483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8435 h 498105"/>
                <a:gd name="connsiteX1" fmla="*/ 973281 w 1160354"/>
                <a:gd name="connsiteY1" fmla="*/ 308267 h 498105"/>
                <a:gd name="connsiteX2" fmla="*/ 1028050 w 1160354"/>
                <a:gd name="connsiteY2" fmla="*/ 263023 h 498105"/>
                <a:gd name="connsiteX3" fmla="*/ 1095519 w 1160354"/>
                <a:gd name="connsiteY3" fmla="*/ 240798 h 498105"/>
                <a:gd name="connsiteX4" fmla="*/ 1156638 w 1160354"/>
                <a:gd name="connsiteY4" fmla="*/ 167773 h 498105"/>
                <a:gd name="connsiteX5" fmla="*/ 1138235 w 1160354"/>
                <a:gd name="connsiteY5" fmla="*/ 90910 h 498105"/>
                <a:gd name="connsiteX6" fmla="*/ 1003444 w 1160354"/>
                <a:gd name="connsiteY6" fmla="*/ 9023 h 498105"/>
                <a:gd name="connsiteX7" fmla="*/ 754853 w 1160354"/>
                <a:gd name="connsiteY7" fmla="*/ 9946 h 498105"/>
                <a:gd name="connsiteX8" fmla="*/ 490536 w 1160354"/>
                <a:gd name="connsiteY8" fmla="*/ 95670 h 498105"/>
                <a:gd name="connsiteX9" fmla="*/ 235742 w 1160354"/>
                <a:gd name="connsiteY9" fmla="*/ 243309 h 498105"/>
                <a:gd name="connsiteX10" fmla="*/ 181121 w 1160354"/>
                <a:gd name="connsiteY10" fmla="*/ 312234 h 498105"/>
                <a:gd name="connsiteX11" fmla="*/ 84281 w 1160354"/>
                <a:gd name="connsiteY11" fmla="*/ 386055 h 498105"/>
                <a:gd name="connsiteX12" fmla="*/ 0 w 1160354"/>
                <a:gd name="connsiteY12" fmla="*/ 498105 h 498105"/>
                <a:gd name="connsiteX0" fmla="*/ 899462 w 1160354"/>
                <a:gd name="connsiteY0" fmla="*/ 382419 h 492089"/>
                <a:gd name="connsiteX1" fmla="*/ 973281 w 1160354"/>
                <a:gd name="connsiteY1" fmla="*/ 302251 h 492089"/>
                <a:gd name="connsiteX2" fmla="*/ 1028050 w 1160354"/>
                <a:gd name="connsiteY2" fmla="*/ 257007 h 492089"/>
                <a:gd name="connsiteX3" fmla="*/ 1095519 w 1160354"/>
                <a:gd name="connsiteY3" fmla="*/ 234782 h 492089"/>
                <a:gd name="connsiteX4" fmla="*/ 1156638 w 1160354"/>
                <a:gd name="connsiteY4" fmla="*/ 161757 h 492089"/>
                <a:gd name="connsiteX5" fmla="*/ 1138235 w 1160354"/>
                <a:gd name="connsiteY5" fmla="*/ 84894 h 492089"/>
                <a:gd name="connsiteX6" fmla="*/ 1003444 w 1160354"/>
                <a:gd name="connsiteY6" fmla="*/ 3007 h 492089"/>
                <a:gd name="connsiteX7" fmla="*/ 711991 w 1160354"/>
                <a:gd name="connsiteY7" fmla="*/ 22980 h 492089"/>
                <a:gd name="connsiteX8" fmla="*/ 490536 w 1160354"/>
                <a:gd name="connsiteY8" fmla="*/ 89654 h 492089"/>
                <a:gd name="connsiteX9" fmla="*/ 235742 w 1160354"/>
                <a:gd name="connsiteY9" fmla="*/ 237293 h 492089"/>
                <a:gd name="connsiteX10" fmla="*/ 181121 w 1160354"/>
                <a:gd name="connsiteY10" fmla="*/ 306218 h 492089"/>
                <a:gd name="connsiteX11" fmla="*/ 84281 w 1160354"/>
                <a:gd name="connsiteY11" fmla="*/ 380039 h 492089"/>
                <a:gd name="connsiteX12" fmla="*/ 0 w 1160354"/>
                <a:gd name="connsiteY12" fmla="*/ 492089 h 492089"/>
                <a:gd name="connsiteX0" fmla="*/ 899462 w 1160354"/>
                <a:gd name="connsiteY0" fmla="*/ 385384 h 495054"/>
                <a:gd name="connsiteX1" fmla="*/ 973281 w 1160354"/>
                <a:gd name="connsiteY1" fmla="*/ 305216 h 495054"/>
                <a:gd name="connsiteX2" fmla="*/ 1028050 w 1160354"/>
                <a:gd name="connsiteY2" fmla="*/ 259972 h 495054"/>
                <a:gd name="connsiteX3" fmla="*/ 1095519 w 1160354"/>
                <a:gd name="connsiteY3" fmla="*/ 237747 h 495054"/>
                <a:gd name="connsiteX4" fmla="*/ 1156638 w 1160354"/>
                <a:gd name="connsiteY4" fmla="*/ 164722 h 495054"/>
                <a:gd name="connsiteX5" fmla="*/ 1138235 w 1160354"/>
                <a:gd name="connsiteY5" fmla="*/ 87859 h 495054"/>
                <a:gd name="connsiteX6" fmla="*/ 1003444 w 1160354"/>
                <a:gd name="connsiteY6" fmla="*/ 5972 h 495054"/>
                <a:gd name="connsiteX7" fmla="*/ 704848 w 1160354"/>
                <a:gd name="connsiteY7" fmla="*/ 14039 h 495054"/>
                <a:gd name="connsiteX8" fmla="*/ 490536 w 1160354"/>
                <a:gd name="connsiteY8" fmla="*/ 92619 h 495054"/>
                <a:gd name="connsiteX9" fmla="*/ 235742 w 1160354"/>
                <a:gd name="connsiteY9" fmla="*/ 240258 h 495054"/>
                <a:gd name="connsiteX10" fmla="*/ 181121 w 1160354"/>
                <a:gd name="connsiteY10" fmla="*/ 309183 h 495054"/>
                <a:gd name="connsiteX11" fmla="*/ 84281 w 1160354"/>
                <a:gd name="connsiteY11" fmla="*/ 383004 h 495054"/>
                <a:gd name="connsiteX12" fmla="*/ 0 w 1160354"/>
                <a:gd name="connsiteY12" fmla="*/ 495054 h 495054"/>
                <a:gd name="connsiteX0" fmla="*/ 899462 w 1160354"/>
                <a:gd name="connsiteY0" fmla="*/ 397218 h 506888"/>
                <a:gd name="connsiteX1" fmla="*/ 973281 w 1160354"/>
                <a:gd name="connsiteY1" fmla="*/ 317050 h 506888"/>
                <a:gd name="connsiteX2" fmla="*/ 1028050 w 1160354"/>
                <a:gd name="connsiteY2" fmla="*/ 271806 h 506888"/>
                <a:gd name="connsiteX3" fmla="*/ 1095519 w 1160354"/>
                <a:gd name="connsiteY3" fmla="*/ 249581 h 506888"/>
                <a:gd name="connsiteX4" fmla="*/ 1156638 w 1160354"/>
                <a:gd name="connsiteY4" fmla="*/ 176556 h 506888"/>
                <a:gd name="connsiteX5" fmla="*/ 1138235 w 1160354"/>
                <a:gd name="connsiteY5" fmla="*/ 99693 h 506888"/>
                <a:gd name="connsiteX6" fmla="*/ 948675 w 1160354"/>
                <a:gd name="connsiteY6" fmla="*/ 3519 h 506888"/>
                <a:gd name="connsiteX7" fmla="*/ 704848 w 1160354"/>
                <a:gd name="connsiteY7" fmla="*/ 25873 h 506888"/>
                <a:gd name="connsiteX8" fmla="*/ 490536 w 1160354"/>
                <a:gd name="connsiteY8" fmla="*/ 104453 h 506888"/>
                <a:gd name="connsiteX9" fmla="*/ 235742 w 1160354"/>
                <a:gd name="connsiteY9" fmla="*/ 252092 h 506888"/>
                <a:gd name="connsiteX10" fmla="*/ 181121 w 1160354"/>
                <a:gd name="connsiteY10" fmla="*/ 321017 h 506888"/>
                <a:gd name="connsiteX11" fmla="*/ 84281 w 1160354"/>
                <a:gd name="connsiteY11" fmla="*/ 394838 h 506888"/>
                <a:gd name="connsiteX12" fmla="*/ 0 w 1160354"/>
                <a:gd name="connsiteY12" fmla="*/ 506888 h 506888"/>
                <a:gd name="connsiteX0" fmla="*/ 899462 w 1160354"/>
                <a:gd name="connsiteY0" fmla="*/ 408195 h 517865"/>
                <a:gd name="connsiteX1" fmla="*/ 973281 w 1160354"/>
                <a:gd name="connsiteY1" fmla="*/ 328027 h 517865"/>
                <a:gd name="connsiteX2" fmla="*/ 1028050 w 1160354"/>
                <a:gd name="connsiteY2" fmla="*/ 282783 h 517865"/>
                <a:gd name="connsiteX3" fmla="*/ 1095519 w 1160354"/>
                <a:gd name="connsiteY3" fmla="*/ 260558 h 517865"/>
                <a:gd name="connsiteX4" fmla="*/ 1156638 w 1160354"/>
                <a:gd name="connsiteY4" fmla="*/ 187533 h 517865"/>
                <a:gd name="connsiteX5" fmla="*/ 1138235 w 1160354"/>
                <a:gd name="connsiteY5" fmla="*/ 110670 h 517865"/>
                <a:gd name="connsiteX6" fmla="*/ 1012969 w 1160354"/>
                <a:gd name="connsiteY6" fmla="*/ 2589 h 517865"/>
                <a:gd name="connsiteX7" fmla="*/ 704848 w 1160354"/>
                <a:gd name="connsiteY7" fmla="*/ 36850 h 517865"/>
                <a:gd name="connsiteX8" fmla="*/ 490536 w 1160354"/>
                <a:gd name="connsiteY8" fmla="*/ 115430 h 517865"/>
                <a:gd name="connsiteX9" fmla="*/ 235742 w 1160354"/>
                <a:gd name="connsiteY9" fmla="*/ 263069 h 517865"/>
                <a:gd name="connsiteX10" fmla="*/ 181121 w 1160354"/>
                <a:gd name="connsiteY10" fmla="*/ 331994 h 517865"/>
                <a:gd name="connsiteX11" fmla="*/ 84281 w 1160354"/>
                <a:gd name="connsiteY11" fmla="*/ 405815 h 517865"/>
                <a:gd name="connsiteX12" fmla="*/ 0 w 1160354"/>
                <a:gd name="connsiteY12" fmla="*/ 517865 h 517865"/>
                <a:gd name="connsiteX0" fmla="*/ 899462 w 1160354"/>
                <a:gd name="connsiteY0" fmla="*/ 391013 h 500683"/>
                <a:gd name="connsiteX1" fmla="*/ 973281 w 1160354"/>
                <a:gd name="connsiteY1" fmla="*/ 310845 h 500683"/>
                <a:gd name="connsiteX2" fmla="*/ 1028050 w 1160354"/>
                <a:gd name="connsiteY2" fmla="*/ 265601 h 500683"/>
                <a:gd name="connsiteX3" fmla="*/ 1095519 w 1160354"/>
                <a:gd name="connsiteY3" fmla="*/ 243376 h 500683"/>
                <a:gd name="connsiteX4" fmla="*/ 1156638 w 1160354"/>
                <a:gd name="connsiteY4" fmla="*/ 170351 h 500683"/>
                <a:gd name="connsiteX5" fmla="*/ 1138235 w 1160354"/>
                <a:gd name="connsiteY5" fmla="*/ 93488 h 500683"/>
                <a:gd name="connsiteX6" fmla="*/ 979632 w 1160354"/>
                <a:gd name="connsiteY6" fmla="*/ 4457 h 500683"/>
                <a:gd name="connsiteX7" fmla="*/ 704848 w 1160354"/>
                <a:gd name="connsiteY7" fmla="*/ 19668 h 500683"/>
                <a:gd name="connsiteX8" fmla="*/ 490536 w 1160354"/>
                <a:gd name="connsiteY8" fmla="*/ 98248 h 500683"/>
                <a:gd name="connsiteX9" fmla="*/ 235742 w 1160354"/>
                <a:gd name="connsiteY9" fmla="*/ 245887 h 500683"/>
                <a:gd name="connsiteX10" fmla="*/ 181121 w 1160354"/>
                <a:gd name="connsiteY10" fmla="*/ 314812 h 500683"/>
                <a:gd name="connsiteX11" fmla="*/ 84281 w 1160354"/>
                <a:gd name="connsiteY11" fmla="*/ 388633 h 500683"/>
                <a:gd name="connsiteX12" fmla="*/ 0 w 1160354"/>
                <a:gd name="connsiteY12" fmla="*/ 500683 h 500683"/>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90536 w 1160354"/>
                <a:gd name="connsiteY8" fmla="*/ 101234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9573 w 1160354"/>
                <a:gd name="connsiteY8" fmla="*/ 14647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81121 w 1160354"/>
                <a:gd name="connsiteY10" fmla="*/ 317798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4281 w 1160354"/>
                <a:gd name="connsiteY11" fmla="*/ 391619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81900 w 1160354"/>
                <a:gd name="connsiteY11" fmla="*/ 363044 h 503669"/>
                <a:gd name="connsiteX12" fmla="*/ 0 w 1160354"/>
                <a:gd name="connsiteY12"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171596 w 1160354"/>
                <a:gd name="connsiteY10" fmla="*/ 322561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 name="connsiteX0" fmla="*/ 899462 w 1160354"/>
                <a:gd name="connsiteY0" fmla="*/ 393999 h 503669"/>
                <a:gd name="connsiteX1" fmla="*/ 973281 w 1160354"/>
                <a:gd name="connsiteY1" fmla="*/ 313831 h 503669"/>
                <a:gd name="connsiteX2" fmla="*/ 1028050 w 1160354"/>
                <a:gd name="connsiteY2" fmla="*/ 268587 h 503669"/>
                <a:gd name="connsiteX3" fmla="*/ 1095519 w 1160354"/>
                <a:gd name="connsiteY3" fmla="*/ 246362 h 503669"/>
                <a:gd name="connsiteX4" fmla="*/ 1156638 w 1160354"/>
                <a:gd name="connsiteY4" fmla="*/ 173337 h 503669"/>
                <a:gd name="connsiteX5" fmla="*/ 1138235 w 1160354"/>
                <a:gd name="connsiteY5" fmla="*/ 96474 h 503669"/>
                <a:gd name="connsiteX6" fmla="*/ 979632 w 1160354"/>
                <a:gd name="connsiteY6" fmla="*/ 7443 h 503669"/>
                <a:gd name="connsiteX7" fmla="*/ 704848 w 1160354"/>
                <a:gd name="connsiteY7" fmla="*/ 22654 h 503669"/>
                <a:gd name="connsiteX8" fmla="*/ 407192 w 1160354"/>
                <a:gd name="connsiteY8" fmla="*/ 127428 h 503669"/>
                <a:gd name="connsiteX9" fmla="*/ 235742 w 1160354"/>
                <a:gd name="connsiteY9" fmla="*/ 248873 h 503669"/>
                <a:gd name="connsiteX10" fmla="*/ 95396 w 1160354"/>
                <a:gd name="connsiteY10" fmla="*/ 374949 h 503669"/>
                <a:gd name="connsiteX11" fmla="*/ 0 w 1160354"/>
                <a:gd name="connsiteY11" fmla="*/ 503669 h 503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0354" h="503669">
                  <a:moveTo>
                    <a:pt x="899462" y="393999"/>
                  </a:moveTo>
                  <a:cubicBezTo>
                    <a:pt x="928831" y="368334"/>
                    <a:pt x="951850" y="334733"/>
                    <a:pt x="973281" y="313831"/>
                  </a:cubicBezTo>
                  <a:cubicBezTo>
                    <a:pt x="994712" y="292929"/>
                    <a:pt x="1007677" y="279832"/>
                    <a:pt x="1028050" y="268587"/>
                  </a:cubicBezTo>
                  <a:cubicBezTo>
                    <a:pt x="1048423" y="257342"/>
                    <a:pt x="1074088" y="262237"/>
                    <a:pt x="1095519" y="246362"/>
                  </a:cubicBezTo>
                  <a:cubicBezTo>
                    <a:pt x="1116950" y="230487"/>
                    <a:pt x="1149519" y="198318"/>
                    <a:pt x="1156638" y="173337"/>
                  </a:cubicBezTo>
                  <a:cubicBezTo>
                    <a:pt x="1163757" y="148356"/>
                    <a:pt x="1162180" y="120154"/>
                    <a:pt x="1138235" y="96474"/>
                  </a:cubicBezTo>
                  <a:cubicBezTo>
                    <a:pt x="1114290" y="72794"/>
                    <a:pt x="1051863" y="19746"/>
                    <a:pt x="979632" y="7443"/>
                  </a:cubicBezTo>
                  <a:cubicBezTo>
                    <a:pt x="907401" y="-4860"/>
                    <a:pt x="788746" y="-3296"/>
                    <a:pt x="704848" y="22654"/>
                  </a:cubicBezTo>
                  <a:cubicBezTo>
                    <a:pt x="625713" y="34317"/>
                    <a:pt x="540145" y="60356"/>
                    <a:pt x="407192" y="127428"/>
                  </a:cubicBezTo>
                  <a:cubicBezTo>
                    <a:pt x="309958" y="187356"/>
                    <a:pt x="308743" y="190554"/>
                    <a:pt x="235742" y="248873"/>
                  </a:cubicBezTo>
                  <a:cubicBezTo>
                    <a:pt x="155597" y="307192"/>
                    <a:pt x="134686" y="332483"/>
                    <a:pt x="95396" y="374949"/>
                  </a:cubicBezTo>
                  <a:cubicBezTo>
                    <a:pt x="56106" y="417415"/>
                    <a:pt x="35749" y="465938"/>
                    <a:pt x="0" y="503669"/>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45" name="Straight Connector 144">
              <a:extLst>
                <a:ext uri="{FF2B5EF4-FFF2-40B4-BE49-F238E27FC236}">
                  <a16:creationId xmlns:a16="http://schemas.microsoft.com/office/drawing/2014/main" id="{B88B21CF-329C-59B0-9A38-A2BF276D223D}"/>
                </a:ext>
              </a:extLst>
            </p:cNvPr>
            <p:cNvCxnSpPr/>
            <p:nvPr/>
          </p:nvCxnSpPr>
          <p:spPr>
            <a:xfrm>
              <a:off x="5052813" y="5716745"/>
              <a:ext cx="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731E66F9-A53E-C007-33C1-48BADB0FDCDE}"/>
                </a:ext>
              </a:extLst>
            </p:cNvPr>
            <p:cNvCxnSpPr>
              <a:cxnSpLocks/>
              <a:endCxn id="144" idx="0"/>
            </p:cNvCxnSpPr>
            <p:nvPr/>
          </p:nvCxnSpPr>
          <p:spPr>
            <a:xfrm flipV="1">
              <a:off x="5101436" y="2279960"/>
              <a:ext cx="4645450" cy="3418055"/>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D8C110E7-8C88-2CAA-BE45-C49FAEFDC69C}"/>
                </a:ext>
              </a:extLst>
            </p:cNvPr>
            <p:cNvCxnSpPr/>
            <p:nvPr/>
          </p:nvCxnSpPr>
          <p:spPr>
            <a:xfrm>
              <a:off x="9742216" y="3589813"/>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48" name="Oval 147">
              <a:extLst>
                <a:ext uri="{FF2B5EF4-FFF2-40B4-BE49-F238E27FC236}">
                  <a16:creationId xmlns:a16="http://schemas.microsoft.com/office/drawing/2014/main" id="{59AD58A9-E41B-2B5F-CA17-502AE36F8DC6}"/>
                </a:ext>
              </a:extLst>
            </p:cNvPr>
            <p:cNvSpPr/>
            <p:nvPr/>
          </p:nvSpPr>
          <p:spPr>
            <a:xfrm>
              <a:off x="9921899" y="2100372"/>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49" name="Oval 148">
              <a:extLst>
                <a:ext uri="{FF2B5EF4-FFF2-40B4-BE49-F238E27FC236}">
                  <a16:creationId xmlns:a16="http://schemas.microsoft.com/office/drawing/2014/main" id="{1ED74766-AEFB-A304-D885-E80DE912EBF2}"/>
                </a:ext>
              </a:extLst>
            </p:cNvPr>
            <p:cNvSpPr/>
            <p:nvPr/>
          </p:nvSpPr>
          <p:spPr>
            <a:xfrm>
              <a:off x="8684359" y="2398555"/>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0" name="Oval 149">
              <a:extLst>
                <a:ext uri="{FF2B5EF4-FFF2-40B4-BE49-F238E27FC236}">
                  <a16:creationId xmlns:a16="http://schemas.microsoft.com/office/drawing/2014/main" id="{99D69AE2-5F3B-5D82-1BB7-9E2240AB1961}"/>
                </a:ext>
              </a:extLst>
            </p:cNvPr>
            <p:cNvSpPr/>
            <p:nvPr/>
          </p:nvSpPr>
          <p:spPr>
            <a:xfrm>
              <a:off x="5086138" y="567707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51" name="Oval 150">
              <a:extLst>
                <a:ext uri="{FF2B5EF4-FFF2-40B4-BE49-F238E27FC236}">
                  <a16:creationId xmlns:a16="http://schemas.microsoft.com/office/drawing/2014/main" id="{91125C60-D512-7E5B-5803-5B19A946C412}"/>
                </a:ext>
              </a:extLst>
            </p:cNvPr>
            <p:cNvSpPr/>
            <p:nvPr/>
          </p:nvSpPr>
          <p:spPr>
            <a:xfrm>
              <a:off x="3815313" y="6244690"/>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52" name="Straight Connector 151">
              <a:extLst>
                <a:ext uri="{FF2B5EF4-FFF2-40B4-BE49-F238E27FC236}">
                  <a16:creationId xmlns:a16="http://schemas.microsoft.com/office/drawing/2014/main" id="{86EC2C56-1A05-B433-5AEC-2203DAE2E38C}"/>
                </a:ext>
              </a:extLst>
            </p:cNvPr>
            <p:cNvCxnSpPr>
              <a:cxnSpLocks/>
            </p:cNvCxnSpPr>
            <p:nvPr/>
          </p:nvCxnSpPr>
          <p:spPr>
            <a:xfrm flipV="1">
              <a:off x="9947831" y="1648210"/>
              <a:ext cx="0" cy="41706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099C0E71-E86F-C54D-87E0-F648996E0FFC}"/>
                </a:ext>
              </a:extLst>
            </p:cNvPr>
            <p:cNvCxnSpPr>
              <a:cxnSpLocks/>
            </p:cNvCxnSpPr>
            <p:nvPr/>
          </p:nvCxnSpPr>
          <p:spPr>
            <a:xfrm flipV="1">
              <a:off x="9171398" y="1445545"/>
              <a:ext cx="0" cy="523431"/>
            </a:xfrm>
            <a:prstGeom prst="line">
              <a:avLst/>
            </a:prstGeom>
            <a:ln w="12700">
              <a:solidFill>
                <a:schemeClr val="bg1">
                  <a:lumMod val="75000"/>
                  <a:alpha val="99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C13E7D0-9AF9-7171-5245-00DD81FD00D7}"/>
                </a:ext>
              </a:extLst>
            </p:cNvPr>
            <p:cNvCxnSpPr>
              <a:cxnSpLocks/>
            </p:cNvCxnSpPr>
            <p:nvPr/>
          </p:nvCxnSpPr>
          <p:spPr>
            <a:xfrm flipH="1" flipV="1">
              <a:off x="9174024" y="1540795"/>
              <a:ext cx="773808" cy="211403"/>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AFA73935-1946-59C6-6D85-93FA3A4C04C4}"/>
                </a:ext>
              </a:extLst>
            </p:cNvPr>
            <p:cNvCxnSpPr>
              <a:cxnSpLocks/>
            </p:cNvCxnSpPr>
            <p:nvPr/>
          </p:nvCxnSpPr>
          <p:spPr>
            <a:xfrm>
              <a:off x="9797758" y="2307799"/>
              <a:ext cx="224478" cy="72464"/>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878A68FB-645F-01C1-A8C8-82879A8A3010}"/>
                </a:ext>
              </a:extLst>
            </p:cNvPr>
            <p:cNvCxnSpPr/>
            <p:nvPr/>
          </p:nvCxnSpPr>
          <p:spPr>
            <a:xfrm>
              <a:off x="6976872" y="4995641"/>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10A298E6-3D14-4FBD-59C7-4436F7658529}"/>
                </a:ext>
              </a:extLst>
            </p:cNvPr>
            <p:cNvCxnSpPr/>
            <p:nvPr/>
          </p:nvCxnSpPr>
          <p:spPr>
            <a:xfrm>
              <a:off x="4097055" y="6336693"/>
              <a:ext cx="705030" cy="198674"/>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58A52FC7-A53F-397F-AD19-02CEE63ABB9F}"/>
                </a:ext>
              </a:extLst>
            </p:cNvPr>
            <p:cNvCxnSpPr>
              <a:cxnSpLocks/>
            </p:cNvCxnSpPr>
            <p:nvPr/>
          </p:nvCxnSpPr>
          <p:spPr>
            <a:xfrm>
              <a:off x="5276264" y="5787902"/>
              <a:ext cx="219557" cy="6187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1E41F8BF-B2EB-8E6B-56E9-5B419A5F0909}"/>
                </a:ext>
              </a:extLst>
            </p:cNvPr>
            <p:cNvCxnSpPr>
              <a:cxnSpLocks/>
            </p:cNvCxnSpPr>
            <p:nvPr/>
          </p:nvCxnSpPr>
          <p:spPr>
            <a:xfrm flipV="1">
              <a:off x="4642220" y="5141296"/>
              <a:ext cx="2855242" cy="1342716"/>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60" name="Straight Arrow Connector 159">
              <a:extLst>
                <a:ext uri="{FF2B5EF4-FFF2-40B4-BE49-F238E27FC236}">
                  <a16:creationId xmlns:a16="http://schemas.microsoft.com/office/drawing/2014/main" id="{75B4A046-775B-8319-7F73-DCB95274BA39}"/>
                </a:ext>
              </a:extLst>
            </p:cNvPr>
            <p:cNvCxnSpPr>
              <a:cxnSpLocks/>
            </p:cNvCxnSpPr>
            <p:nvPr/>
          </p:nvCxnSpPr>
          <p:spPr>
            <a:xfrm flipV="1">
              <a:off x="4232704" y="5818349"/>
              <a:ext cx="1152908" cy="551885"/>
            </a:xfrm>
            <a:prstGeom prst="straightConnector1">
              <a:avLst/>
            </a:prstGeom>
            <a:ln>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8ACA872A-B5F7-08AA-F93A-4F4C0DC7F70D}"/>
                </a:ext>
              </a:extLst>
            </p:cNvPr>
            <p:cNvSpPr txBox="1"/>
            <p:nvPr/>
          </p:nvSpPr>
          <p:spPr>
            <a:xfrm>
              <a:off x="10502914" y="2318721"/>
              <a:ext cx="13004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Lost in Turn</a:t>
              </a:r>
            </a:p>
          </p:txBody>
        </p:sp>
        <p:sp>
          <p:nvSpPr>
            <p:cNvPr id="162" name="TextBox 161">
              <a:extLst>
                <a:ext uri="{FF2B5EF4-FFF2-40B4-BE49-F238E27FC236}">
                  <a16:creationId xmlns:a16="http://schemas.microsoft.com/office/drawing/2014/main" id="{C0DD6052-D5D8-11EC-919C-ABD5332D562A}"/>
                </a:ext>
              </a:extLst>
            </p:cNvPr>
            <p:cNvSpPr txBox="1"/>
            <p:nvPr/>
          </p:nvSpPr>
          <p:spPr>
            <a:xfrm rot="861567">
              <a:off x="9017158" y="1286974"/>
              <a:ext cx="120590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Turn Diameter</a:t>
              </a:r>
            </a:p>
          </p:txBody>
        </p:sp>
        <p:sp>
          <p:nvSpPr>
            <p:cNvPr id="163" name="TextBox 162">
              <a:extLst>
                <a:ext uri="{FF2B5EF4-FFF2-40B4-BE49-F238E27FC236}">
                  <a16:creationId xmlns:a16="http://schemas.microsoft.com/office/drawing/2014/main" id="{47E594A4-ECFD-5F66-763C-75BD64C5D774}"/>
                </a:ext>
              </a:extLst>
            </p:cNvPr>
            <p:cNvSpPr txBox="1"/>
            <p:nvPr/>
          </p:nvSpPr>
          <p:spPr>
            <a:xfrm rot="20075542">
              <a:off x="5424884" y="5835365"/>
              <a:ext cx="1289907"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Runway Length</a:t>
              </a:r>
            </a:p>
          </p:txBody>
        </p:sp>
        <p:sp>
          <p:nvSpPr>
            <p:cNvPr id="164" name="TextBox 163">
              <a:extLst>
                <a:ext uri="{FF2B5EF4-FFF2-40B4-BE49-F238E27FC236}">
                  <a16:creationId xmlns:a16="http://schemas.microsoft.com/office/drawing/2014/main" id="{52AB25FE-DADB-47A1-BBC0-866030AE625F}"/>
                </a:ext>
              </a:extLst>
            </p:cNvPr>
            <p:cNvSpPr txBox="1"/>
            <p:nvPr/>
          </p:nvSpPr>
          <p:spPr>
            <a:xfrm rot="20075542">
              <a:off x="4415537" y="6000445"/>
              <a:ext cx="1044190"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Ground Roll</a:t>
              </a:r>
            </a:p>
          </p:txBody>
        </p:sp>
        <p:sp>
          <p:nvSpPr>
            <p:cNvPr id="165" name="TextBox 164">
              <a:extLst>
                <a:ext uri="{FF2B5EF4-FFF2-40B4-BE49-F238E27FC236}">
                  <a16:creationId xmlns:a16="http://schemas.microsoft.com/office/drawing/2014/main" id="{4BE734D5-6712-C7BD-4B5E-736F0140AE82}"/>
                </a:ext>
              </a:extLst>
            </p:cNvPr>
            <p:cNvSpPr txBox="1"/>
            <p:nvPr/>
          </p:nvSpPr>
          <p:spPr>
            <a:xfrm rot="18278100">
              <a:off x="7530720" y="2966391"/>
              <a:ext cx="1021089"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Glide Angle</a:t>
              </a:r>
            </a:p>
          </p:txBody>
        </p:sp>
        <p:sp>
          <p:nvSpPr>
            <p:cNvPr id="166" name="TextBox 165">
              <a:extLst>
                <a:ext uri="{FF2B5EF4-FFF2-40B4-BE49-F238E27FC236}">
                  <a16:creationId xmlns:a16="http://schemas.microsoft.com/office/drawing/2014/main" id="{697B4F36-F71B-43D0-3BAE-5C6CD2C59E63}"/>
                </a:ext>
              </a:extLst>
            </p:cNvPr>
            <p:cNvSpPr txBox="1"/>
            <p:nvPr/>
          </p:nvSpPr>
          <p:spPr>
            <a:xfrm rot="19608800">
              <a:off x="5679203" y="4537267"/>
              <a:ext cx="1054692" cy="302420"/>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67" name="Arc 166">
              <a:extLst>
                <a:ext uri="{FF2B5EF4-FFF2-40B4-BE49-F238E27FC236}">
                  <a16:creationId xmlns:a16="http://schemas.microsoft.com/office/drawing/2014/main" id="{3E49F75E-7365-AB18-287F-7D0AC64422BE}"/>
                </a:ext>
              </a:extLst>
            </p:cNvPr>
            <p:cNvSpPr/>
            <p:nvPr/>
          </p:nvSpPr>
          <p:spPr>
            <a:xfrm>
              <a:off x="5571876" y="5271198"/>
              <a:ext cx="207580" cy="253977"/>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68" name="Arc 167">
              <a:extLst>
                <a:ext uri="{FF2B5EF4-FFF2-40B4-BE49-F238E27FC236}">
                  <a16:creationId xmlns:a16="http://schemas.microsoft.com/office/drawing/2014/main" id="{DA8C6051-7579-3F65-BFA2-F96DC789F268}"/>
                </a:ext>
              </a:extLst>
            </p:cNvPr>
            <p:cNvSpPr/>
            <p:nvPr/>
          </p:nvSpPr>
          <p:spPr>
            <a:xfrm>
              <a:off x="7289973" y="4216550"/>
              <a:ext cx="221289" cy="227339"/>
            </a:xfrm>
            <a:prstGeom prst="arc">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cxnSp>
          <p:nvCxnSpPr>
            <p:cNvPr id="169" name="Straight Connector 168">
              <a:extLst>
                <a:ext uri="{FF2B5EF4-FFF2-40B4-BE49-F238E27FC236}">
                  <a16:creationId xmlns:a16="http://schemas.microsoft.com/office/drawing/2014/main" id="{923DC63F-4177-945B-52A8-3FE8AE03A1DD}"/>
                </a:ext>
              </a:extLst>
            </p:cNvPr>
            <p:cNvCxnSpPr>
              <a:cxnSpLocks/>
            </p:cNvCxnSpPr>
            <p:nvPr/>
          </p:nvCxnSpPr>
          <p:spPr>
            <a:xfrm>
              <a:off x="9766244" y="3607999"/>
              <a:ext cx="327286" cy="10176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6E31D1ED-5243-BB66-3D52-9F1C7D43CF3F}"/>
                </a:ext>
              </a:extLst>
            </p:cNvPr>
            <p:cNvCxnSpPr>
              <a:cxnSpLocks/>
            </p:cNvCxnSpPr>
            <p:nvPr/>
          </p:nvCxnSpPr>
          <p:spPr>
            <a:xfrm>
              <a:off x="9909997" y="2336603"/>
              <a:ext cx="0" cy="1322279"/>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71" name="TextBox 170">
              <a:extLst>
                <a:ext uri="{FF2B5EF4-FFF2-40B4-BE49-F238E27FC236}">
                  <a16:creationId xmlns:a16="http://schemas.microsoft.com/office/drawing/2014/main" id="{8C83846D-801B-165E-B5D5-92F5F6515459}"/>
                </a:ext>
              </a:extLst>
            </p:cNvPr>
            <p:cNvSpPr txBox="1"/>
            <p:nvPr/>
          </p:nvSpPr>
          <p:spPr>
            <a:xfrm>
              <a:off x="9921899" y="2819656"/>
              <a:ext cx="2210323" cy="30242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Alt. Power is Lost</a:t>
              </a:r>
            </a:p>
          </p:txBody>
        </p:sp>
        <p:sp>
          <p:nvSpPr>
            <p:cNvPr id="172" name="TextBox 171">
              <a:extLst>
                <a:ext uri="{FF2B5EF4-FFF2-40B4-BE49-F238E27FC236}">
                  <a16:creationId xmlns:a16="http://schemas.microsoft.com/office/drawing/2014/main" id="{BC7C4555-4F7E-832B-714C-E4714954B0E5}"/>
                </a:ext>
              </a:extLst>
            </p:cNvPr>
            <p:cNvSpPr txBox="1"/>
            <p:nvPr/>
          </p:nvSpPr>
          <p:spPr>
            <a:xfrm>
              <a:off x="10502781" y="1799363"/>
              <a:ext cx="1487365" cy="48387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Startle Duration and Shape</a:t>
              </a:r>
            </a:p>
          </p:txBody>
        </p:sp>
        <p:sp>
          <p:nvSpPr>
            <p:cNvPr id="173" name="TextBox 172">
              <a:extLst>
                <a:ext uri="{FF2B5EF4-FFF2-40B4-BE49-F238E27FC236}">
                  <a16:creationId xmlns:a16="http://schemas.microsoft.com/office/drawing/2014/main" id="{C1203CF2-DF1D-6566-F6B6-1B60C8B4E84F}"/>
                </a:ext>
              </a:extLst>
            </p:cNvPr>
            <p:cNvSpPr txBox="1"/>
            <p:nvPr/>
          </p:nvSpPr>
          <p:spPr>
            <a:xfrm>
              <a:off x="6740579" y="2119950"/>
              <a:ext cx="1500441" cy="559477"/>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Transition from Turn to Glide</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74" name="Oval 173">
              <a:extLst>
                <a:ext uri="{FF2B5EF4-FFF2-40B4-BE49-F238E27FC236}">
                  <a16:creationId xmlns:a16="http://schemas.microsoft.com/office/drawing/2014/main" id="{79184B46-9088-A189-F00B-75A75C8D02E2}"/>
                </a:ext>
              </a:extLst>
            </p:cNvPr>
            <p:cNvSpPr/>
            <p:nvPr/>
          </p:nvSpPr>
          <p:spPr>
            <a:xfrm>
              <a:off x="9714381" y="225867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75" name="Oval 174">
              <a:extLst>
                <a:ext uri="{FF2B5EF4-FFF2-40B4-BE49-F238E27FC236}">
                  <a16:creationId xmlns:a16="http://schemas.microsoft.com/office/drawing/2014/main" id="{32543BCC-D149-6AD6-BFAC-D7959A9D5DCE}"/>
                </a:ext>
              </a:extLst>
            </p:cNvPr>
            <p:cNvSpPr/>
            <p:nvPr/>
          </p:nvSpPr>
          <p:spPr>
            <a:xfrm>
              <a:off x="8969254" y="2086043"/>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76" name="Straight Connector 175">
              <a:extLst>
                <a:ext uri="{FF2B5EF4-FFF2-40B4-BE49-F238E27FC236}">
                  <a16:creationId xmlns:a16="http://schemas.microsoft.com/office/drawing/2014/main" id="{B79E4984-882B-648C-2A2F-C9E3FA2C045C}"/>
                </a:ext>
              </a:extLst>
            </p:cNvPr>
            <p:cNvCxnSpPr>
              <a:cxnSpLocks/>
            </p:cNvCxnSpPr>
            <p:nvPr/>
          </p:nvCxnSpPr>
          <p:spPr>
            <a:xfrm flipH="1" flipV="1">
              <a:off x="9171643" y="1876551"/>
              <a:ext cx="712798" cy="223259"/>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A976B141-DADA-DC14-1178-649EAD26E90F}"/>
                </a:ext>
              </a:extLst>
            </p:cNvPr>
            <p:cNvCxnSpPr>
              <a:cxnSpLocks/>
            </p:cNvCxnSpPr>
            <p:nvPr/>
          </p:nvCxnSpPr>
          <p:spPr>
            <a:xfrm>
              <a:off x="10003558" y="2146806"/>
              <a:ext cx="474799" cy="111873"/>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E8459419-33C3-3A7E-5621-6B1CDF065B54}"/>
                </a:ext>
              </a:extLst>
            </p:cNvPr>
            <p:cNvCxnSpPr>
              <a:cxnSpLocks/>
            </p:cNvCxnSpPr>
            <p:nvPr/>
          </p:nvCxnSpPr>
          <p:spPr>
            <a:xfrm>
              <a:off x="10374261" y="2230816"/>
              <a:ext cx="0" cy="289262"/>
            </a:xfrm>
            <a:prstGeom prst="line">
              <a:avLst/>
            </a:prstGeom>
            <a:ln w="12700">
              <a:solidFill>
                <a:schemeClr val="bg1">
                  <a:lumMod val="75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605732E3-370F-501F-DFA1-36A05D374FA4}"/>
                </a:ext>
              </a:extLst>
            </p:cNvPr>
            <p:cNvCxnSpPr>
              <a:cxnSpLocks/>
            </p:cNvCxnSpPr>
            <p:nvPr/>
          </p:nvCxnSpPr>
          <p:spPr>
            <a:xfrm flipV="1">
              <a:off x="9843264" y="2145781"/>
              <a:ext cx="689592" cy="67233"/>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A7F0E274-2491-2F8E-0FB0-65ADB0A1DA0D}"/>
                </a:ext>
              </a:extLst>
            </p:cNvPr>
            <p:cNvCxnSpPr>
              <a:cxnSpLocks/>
              <a:endCxn id="173" idx="3"/>
            </p:cNvCxnSpPr>
            <p:nvPr/>
          </p:nvCxnSpPr>
          <p:spPr>
            <a:xfrm flipH="1">
              <a:off x="8241020" y="2234388"/>
              <a:ext cx="567236" cy="165300"/>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1" name="Freeform: Shape 180">
              <a:extLst>
                <a:ext uri="{FF2B5EF4-FFF2-40B4-BE49-F238E27FC236}">
                  <a16:creationId xmlns:a16="http://schemas.microsoft.com/office/drawing/2014/main" id="{0A006036-B610-7B1A-DB53-BB2A4CF4F416}"/>
                </a:ext>
              </a:extLst>
            </p:cNvPr>
            <p:cNvSpPr/>
            <p:nvPr/>
          </p:nvSpPr>
          <p:spPr>
            <a:xfrm>
              <a:off x="6769597" y="4450682"/>
              <a:ext cx="454819" cy="488157"/>
            </a:xfrm>
            <a:custGeom>
              <a:avLst/>
              <a:gdLst>
                <a:gd name="connsiteX0" fmla="*/ 240506 w 240506"/>
                <a:gd name="connsiteY0" fmla="*/ 0 h 292894"/>
                <a:gd name="connsiteX1" fmla="*/ 157162 w 240506"/>
                <a:gd name="connsiteY1" fmla="*/ 111919 h 292894"/>
                <a:gd name="connsiteX2" fmla="*/ 133350 w 240506"/>
                <a:gd name="connsiteY2" fmla="*/ 161925 h 292894"/>
                <a:gd name="connsiteX3" fmla="*/ 57150 w 240506"/>
                <a:gd name="connsiteY3" fmla="*/ 228600 h 292894"/>
                <a:gd name="connsiteX4" fmla="*/ 0 w 240506"/>
                <a:gd name="connsiteY4" fmla="*/ 292894 h 292894"/>
                <a:gd name="connsiteX0" fmla="*/ 242887 w 242887"/>
                <a:gd name="connsiteY0" fmla="*/ 0 h 297657"/>
                <a:gd name="connsiteX1" fmla="*/ 159543 w 242887"/>
                <a:gd name="connsiteY1" fmla="*/ 111919 h 297657"/>
                <a:gd name="connsiteX2" fmla="*/ 135731 w 242887"/>
                <a:gd name="connsiteY2" fmla="*/ 161925 h 297657"/>
                <a:gd name="connsiteX3" fmla="*/ 59531 w 242887"/>
                <a:gd name="connsiteY3" fmla="*/ 228600 h 297657"/>
                <a:gd name="connsiteX4" fmla="*/ 0 w 242887"/>
                <a:gd name="connsiteY4" fmla="*/ 297657 h 297657"/>
                <a:gd name="connsiteX0" fmla="*/ 242887 w 242887"/>
                <a:gd name="connsiteY0" fmla="*/ 0 h 297657"/>
                <a:gd name="connsiteX1" fmla="*/ 159543 w 242887"/>
                <a:gd name="connsiteY1" fmla="*/ 111919 h 297657"/>
                <a:gd name="connsiteX2" fmla="*/ 135731 w 242887"/>
                <a:gd name="connsiteY2" fmla="*/ 161925 h 297657"/>
                <a:gd name="connsiteX3" fmla="*/ 147638 w 242887"/>
                <a:gd name="connsiteY3" fmla="*/ 185737 h 297657"/>
                <a:gd name="connsiteX4" fmla="*/ 0 w 242887"/>
                <a:gd name="connsiteY4" fmla="*/ 297657 h 297657"/>
                <a:gd name="connsiteX0" fmla="*/ 242887 w 242887"/>
                <a:gd name="connsiteY0" fmla="*/ 0 h 297657"/>
                <a:gd name="connsiteX1" fmla="*/ 159543 w 242887"/>
                <a:gd name="connsiteY1" fmla="*/ 111919 h 297657"/>
                <a:gd name="connsiteX2" fmla="*/ 221456 w 242887"/>
                <a:gd name="connsiteY2" fmla="*/ 97631 h 297657"/>
                <a:gd name="connsiteX3" fmla="*/ 147638 w 242887"/>
                <a:gd name="connsiteY3" fmla="*/ 185737 h 297657"/>
                <a:gd name="connsiteX4" fmla="*/ 0 w 242887"/>
                <a:gd name="connsiteY4" fmla="*/ 297657 h 297657"/>
                <a:gd name="connsiteX0" fmla="*/ 242887 w 283489"/>
                <a:gd name="connsiteY0" fmla="*/ 7496 h 305153"/>
                <a:gd name="connsiteX1" fmla="*/ 283368 w 283489"/>
                <a:gd name="connsiteY1" fmla="*/ 2733 h 305153"/>
                <a:gd name="connsiteX2" fmla="*/ 221456 w 283489"/>
                <a:gd name="connsiteY2" fmla="*/ 105127 h 305153"/>
                <a:gd name="connsiteX3" fmla="*/ 147638 w 283489"/>
                <a:gd name="connsiteY3" fmla="*/ 193233 h 305153"/>
                <a:gd name="connsiteX4" fmla="*/ 0 w 283489"/>
                <a:gd name="connsiteY4" fmla="*/ 305153 h 305153"/>
                <a:gd name="connsiteX0" fmla="*/ 404812 w 404812"/>
                <a:gd name="connsiteY0" fmla="*/ 0 h 492919"/>
                <a:gd name="connsiteX1" fmla="*/ 283368 w 404812"/>
                <a:gd name="connsiteY1" fmla="*/ 190499 h 492919"/>
                <a:gd name="connsiteX2" fmla="*/ 221456 w 404812"/>
                <a:gd name="connsiteY2" fmla="*/ 292893 h 492919"/>
                <a:gd name="connsiteX3" fmla="*/ 147638 w 404812"/>
                <a:gd name="connsiteY3" fmla="*/ 380999 h 492919"/>
                <a:gd name="connsiteX4" fmla="*/ 0 w 404812"/>
                <a:gd name="connsiteY4"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47638 w 404812"/>
                <a:gd name="connsiteY4" fmla="*/ 380999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21456 w 404812"/>
                <a:gd name="connsiteY3" fmla="*/ 292893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283368 w 404812"/>
                <a:gd name="connsiteY2" fmla="*/ 190499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19087 w 404812"/>
                <a:gd name="connsiteY1" fmla="*/ 119062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61937 w 404812"/>
                <a:gd name="connsiteY3" fmla="*/ 250030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9562 w 404812"/>
                <a:gd name="connsiteY2" fmla="*/ 147636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3855 w 404812"/>
                <a:gd name="connsiteY1" fmla="*/ 38100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04812 w 404812"/>
                <a:gd name="connsiteY0" fmla="*/ 0 h 492919"/>
                <a:gd name="connsiteX1" fmla="*/ 376236 w 404812"/>
                <a:gd name="connsiteY1" fmla="*/ 111919 h 492919"/>
                <a:gd name="connsiteX2" fmla="*/ 307180 w 404812"/>
                <a:gd name="connsiteY2" fmla="*/ 214311 h 492919"/>
                <a:gd name="connsiteX3" fmla="*/ 259556 w 404812"/>
                <a:gd name="connsiteY3" fmla="*/ 266699 h 492919"/>
                <a:gd name="connsiteX4" fmla="*/ 164307 w 404812"/>
                <a:gd name="connsiteY4" fmla="*/ 373856 h 492919"/>
                <a:gd name="connsiteX5" fmla="*/ 0 w 404812"/>
                <a:gd name="connsiteY5" fmla="*/ 492919 h 492919"/>
                <a:gd name="connsiteX0" fmla="*/ 454819 w 454819"/>
                <a:gd name="connsiteY0" fmla="*/ 0 h 488157"/>
                <a:gd name="connsiteX1" fmla="*/ 376236 w 454819"/>
                <a:gd name="connsiteY1" fmla="*/ 107157 h 488157"/>
                <a:gd name="connsiteX2" fmla="*/ 307180 w 454819"/>
                <a:gd name="connsiteY2" fmla="*/ 209549 h 488157"/>
                <a:gd name="connsiteX3" fmla="*/ 259556 w 454819"/>
                <a:gd name="connsiteY3" fmla="*/ 261937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07180 w 454819"/>
                <a:gd name="connsiteY2" fmla="*/ 209549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64307 w 454819"/>
                <a:gd name="connsiteY4" fmla="*/ 369094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50031 w 454819"/>
                <a:gd name="connsiteY3" fmla="*/ 276224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7157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30992 w 454819"/>
                <a:gd name="connsiteY2" fmla="*/ 173831 h 488157"/>
                <a:gd name="connsiteX3" fmla="*/ 240506 w 454819"/>
                <a:gd name="connsiteY3" fmla="*/ 280986 h 488157"/>
                <a:gd name="connsiteX4" fmla="*/ 126207 w 454819"/>
                <a:gd name="connsiteY4" fmla="*/ 392906 h 488157"/>
                <a:gd name="connsiteX5" fmla="*/ 0 w 454819"/>
                <a:gd name="connsiteY5" fmla="*/ 488157 h 488157"/>
                <a:gd name="connsiteX0" fmla="*/ 454819 w 454819"/>
                <a:gd name="connsiteY0" fmla="*/ 0 h 488157"/>
                <a:gd name="connsiteX1" fmla="*/ 376236 w 454819"/>
                <a:gd name="connsiteY1" fmla="*/ 100014 h 488157"/>
                <a:gd name="connsiteX2" fmla="*/ 321467 w 454819"/>
                <a:gd name="connsiteY2" fmla="*/ 178594 h 488157"/>
                <a:gd name="connsiteX3" fmla="*/ 240506 w 454819"/>
                <a:gd name="connsiteY3" fmla="*/ 280986 h 488157"/>
                <a:gd name="connsiteX4" fmla="*/ 126207 w 454819"/>
                <a:gd name="connsiteY4" fmla="*/ 392906 h 488157"/>
                <a:gd name="connsiteX5" fmla="*/ 0 w 454819"/>
                <a:gd name="connsiteY5" fmla="*/ 488157 h 48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4819" h="488157">
                  <a:moveTo>
                    <a:pt x="454819" y="0"/>
                  </a:moveTo>
                  <a:cubicBezTo>
                    <a:pt x="440532" y="19844"/>
                    <a:pt x="396477" y="68264"/>
                    <a:pt x="376236" y="100014"/>
                  </a:cubicBezTo>
                  <a:cubicBezTo>
                    <a:pt x="355995" y="131764"/>
                    <a:pt x="344089" y="148432"/>
                    <a:pt x="321467" y="178594"/>
                  </a:cubicBezTo>
                  <a:cubicBezTo>
                    <a:pt x="298845" y="208756"/>
                    <a:pt x="273049" y="245267"/>
                    <a:pt x="240506" y="280986"/>
                  </a:cubicBezTo>
                  <a:cubicBezTo>
                    <a:pt x="207963" y="316705"/>
                    <a:pt x="174626" y="347266"/>
                    <a:pt x="126207" y="392906"/>
                  </a:cubicBezTo>
                  <a:cubicBezTo>
                    <a:pt x="58739" y="448071"/>
                    <a:pt x="25797" y="463154"/>
                    <a:pt x="0" y="488157"/>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2" name="Oval 181">
              <a:extLst>
                <a:ext uri="{FF2B5EF4-FFF2-40B4-BE49-F238E27FC236}">
                  <a16:creationId xmlns:a16="http://schemas.microsoft.com/office/drawing/2014/main" id="{44AACFA2-11DD-2982-3BC3-32EACDAEC8EB}"/>
                </a:ext>
              </a:extLst>
            </p:cNvPr>
            <p:cNvSpPr/>
            <p:nvPr/>
          </p:nvSpPr>
          <p:spPr>
            <a:xfrm>
              <a:off x="7191432" y="4438886"/>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3" name="Oval 182">
              <a:extLst>
                <a:ext uri="{FF2B5EF4-FFF2-40B4-BE49-F238E27FC236}">
                  <a16:creationId xmlns:a16="http://schemas.microsoft.com/office/drawing/2014/main" id="{BB879C21-EC99-154F-B027-3CDB10E6C990}"/>
                </a:ext>
              </a:extLst>
            </p:cNvPr>
            <p:cNvSpPr/>
            <p:nvPr/>
          </p:nvSpPr>
          <p:spPr>
            <a:xfrm>
              <a:off x="6751535" y="4901589"/>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sp>
          <p:nvSpPr>
            <p:cNvPr id="184" name="TextBox 183">
              <a:extLst>
                <a:ext uri="{FF2B5EF4-FFF2-40B4-BE49-F238E27FC236}">
                  <a16:creationId xmlns:a16="http://schemas.microsoft.com/office/drawing/2014/main" id="{862CCAF5-1A28-7924-C1AB-4122320DB9EB}"/>
                </a:ext>
              </a:extLst>
            </p:cNvPr>
            <p:cNvSpPr txBox="1"/>
            <p:nvPr/>
          </p:nvSpPr>
          <p:spPr>
            <a:xfrm>
              <a:off x="5356454" y="3648548"/>
              <a:ext cx="1500441" cy="483872"/>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Final Turn to Align with Runway</a:t>
              </a:r>
            </a:p>
          </p:txBody>
        </p:sp>
        <p:cxnSp>
          <p:nvCxnSpPr>
            <p:cNvPr id="185" name="Straight Connector 184">
              <a:extLst>
                <a:ext uri="{FF2B5EF4-FFF2-40B4-BE49-F238E27FC236}">
                  <a16:creationId xmlns:a16="http://schemas.microsoft.com/office/drawing/2014/main" id="{A90742AD-DF7D-7C66-4A22-AE25D4882981}"/>
                </a:ext>
              </a:extLst>
            </p:cNvPr>
            <p:cNvCxnSpPr>
              <a:cxnSpLocks/>
            </p:cNvCxnSpPr>
            <p:nvPr/>
          </p:nvCxnSpPr>
          <p:spPr>
            <a:xfrm flipH="1" flipV="1">
              <a:off x="6657118" y="4137168"/>
              <a:ext cx="341311" cy="544207"/>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10CCBD44-F63D-9009-5B1A-D8457A26A910}"/>
                </a:ext>
              </a:extLst>
            </p:cNvPr>
            <p:cNvCxnSpPr>
              <a:cxnSpLocks/>
            </p:cNvCxnSpPr>
            <p:nvPr/>
          </p:nvCxnSpPr>
          <p:spPr>
            <a:xfrm flipH="1" flipV="1">
              <a:off x="8741466" y="1848083"/>
              <a:ext cx="228821" cy="224178"/>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707BF778-60C1-4FFD-04F5-86DA9FF4D87A}"/>
                </a:ext>
              </a:extLst>
            </p:cNvPr>
            <p:cNvSpPr txBox="1"/>
            <p:nvPr/>
          </p:nvSpPr>
          <p:spPr>
            <a:xfrm>
              <a:off x="6859339" y="1645894"/>
              <a:ext cx="1954150"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Point towards Runway</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88" name="Freeform: Shape 187">
              <a:extLst>
                <a:ext uri="{FF2B5EF4-FFF2-40B4-BE49-F238E27FC236}">
                  <a16:creationId xmlns:a16="http://schemas.microsoft.com/office/drawing/2014/main" id="{D4651014-C3C0-D5CE-918E-A1FAE6C8F1C6}"/>
                </a:ext>
              </a:extLst>
            </p:cNvPr>
            <p:cNvSpPr/>
            <p:nvPr/>
          </p:nvSpPr>
          <p:spPr>
            <a:xfrm rot="21254104">
              <a:off x="4813164" y="5316071"/>
              <a:ext cx="889203" cy="459581"/>
            </a:xfrm>
            <a:custGeom>
              <a:avLst/>
              <a:gdLst>
                <a:gd name="connsiteX0" fmla="*/ 0 w 635793"/>
                <a:gd name="connsiteY0" fmla="*/ 459581 h 459581"/>
                <a:gd name="connsiteX1" fmla="*/ 83343 w 635793"/>
                <a:gd name="connsiteY1" fmla="*/ 416719 h 459581"/>
                <a:gd name="connsiteX2" fmla="*/ 171450 w 635793"/>
                <a:gd name="connsiteY2" fmla="*/ 333375 h 459581"/>
                <a:gd name="connsiteX3" fmla="*/ 219075 w 635793"/>
                <a:gd name="connsiteY3" fmla="*/ 257175 h 459581"/>
                <a:gd name="connsiteX4" fmla="*/ 321468 w 635793"/>
                <a:gd name="connsiteY4" fmla="*/ 166688 h 459581"/>
                <a:gd name="connsiteX5" fmla="*/ 492918 w 635793"/>
                <a:gd name="connsiteY5" fmla="*/ 90488 h 459581"/>
                <a:gd name="connsiteX6" fmla="*/ 635793 w 635793"/>
                <a:gd name="connsiteY6" fmla="*/ 0 h 459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793" h="459581">
                  <a:moveTo>
                    <a:pt x="0" y="459581"/>
                  </a:moveTo>
                  <a:cubicBezTo>
                    <a:pt x="27384" y="448667"/>
                    <a:pt x="54768" y="437753"/>
                    <a:pt x="83343" y="416719"/>
                  </a:cubicBezTo>
                  <a:cubicBezTo>
                    <a:pt x="111918" y="395685"/>
                    <a:pt x="148828" y="359966"/>
                    <a:pt x="171450" y="333375"/>
                  </a:cubicBezTo>
                  <a:cubicBezTo>
                    <a:pt x="194072" y="306784"/>
                    <a:pt x="194072" y="284956"/>
                    <a:pt x="219075" y="257175"/>
                  </a:cubicBezTo>
                  <a:cubicBezTo>
                    <a:pt x="244078" y="229394"/>
                    <a:pt x="275828" y="194469"/>
                    <a:pt x="321468" y="166688"/>
                  </a:cubicBezTo>
                  <a:cubicBezTo>
                    <a:pt x="367108" y="138907"/>
                    <a:pt x="440531" y="118269"/>
                    <a:pt x="492918" y="90488"/>
                  </a:cubicBezTo>
                  <a:cubicBezTo>
                    <a:pt x="545305" y="62707"/>
                    <a:pt x="606821" y="25003"/>
                    <a:pt x="635793" y="0"/>
                  </a:cubicBezTo>
                </a:path>
              </a:pathLst>
            </a:custGeom>
            <a:noFill/>
            <a:ln w="2222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9" name="TextBox 188">
              <a:extLst>
                <a:ext uri="{FF2B5EF4-FFF2-40B4-BE49-F238E27FC236}">
                  <a16:creationId xmlns:a16="http://schemas.microsoft.com/office/drawing/2014/main" id="{AF8A1EA5-618A-4238-BDD1-56A98D2A5BCC}"/>
                </a:ext>
              </a:extLst>
            </p:cNvPr>
            <p:cNvSpPr txBox="1"/>
            <p:nvPr/>
          </p:nvSpPr>
          <p:spPr>
            <a:xfrm>
              <a:off x="3783509" y="5020643"/>
              <a:ext cx="1008822" cy="378026"/>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Liftoff</a:t>
              </a: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375" b="0" i="0" u="none" strike="noStrike" kern="1200" cap="none" spc="0" normalizeH="0" baseline="0" noProof="0" dirty="0">
                <a:ln>
                  <a:noFill/>
                </a:ln>
                <a:solidFill>
                  <a:prstClr val="black"/>
                </a:solidFill>
                <a:effectLst/>
                <a:uLnTx/>
                <a:uFillTx/>
                <a:latin typeface="Helvetica" pitchFamily="2" charset="0"/>
                <a:ea typeface="+mn-ea"/>
                <a:cs typeface="+mn-cs"/>
              </a:endParaRPr>
            </a:p>
          </p:txBody>
        </p:sp>
        <p:sp>
          <p:nvSpPr>
            <p:cNvPr id="190" name="Oval 189">
              <a:extLst>
                <a:ext uri="{FF2B5EF4-FFF2-40B4-BE49-F238E27FC236}">
                  <a16:creationId xmlns:a16="http://schemas.microsoft.com/office/drawing/2014/main" id="{A93A3B15-700E-50BC-CA27-BDE605BB8EF7}"/>
                </a:ext>
              </a:extLst>
            </p:cNvPr>
            <p:cNvSpPr/>
            <p:nvPr/>
          </p:nvSpPr>
          <p:spPr>
            <a:xfrm>
              <a:off x="4852376" y="5771291"/>
              <a:ext cx="51863" cy="5138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Helvetica" pitchFamily="2" charset="0"/>
                <a:ea typeface="+mn-ea"/>
                <a:cs typeface="+mn-cs"/>
              </a:endParaRPr>
            </a:p>
          </p:txBody>
        </p:sp>
        <p:cxnSp>
          <p:nvCxnSpPr>
            <p:cNvPr id="191" name="Straight Connector 190">
              <a:extLst>
                <a:ext uri="{FF2B5EF4-FFF2-40B4-BE49-F238E27FC236}">
                  <a16:creationId xmlns:a16="http://schemas.microsoft.com/office/drawing/2014/main" id="{6A8C1424-4E6C-BB3F-DED9-38368C727B5D}"/>
                </a:ext>
              </a:extLst>
            </p:cNvPr>
            <p:cNvCxnSpPr>
              <a:cxnSpLocks/>
            </p:cNvCxnSpPr>
            <p:nvPr/>
          </p:nvCxnSpPr>
          <p:spPr>
            <a:xfrm flipH="1" flipV="1">
              <a:off x="4509175" y="5279507"/>
              <a:ext cx="366442" cy="502111"/>
            </a:xfrm>
            <a:prstGeom prst="line">
              <a:avLst/>
            </a:prstGeom>
            <a:ln w="12700">
              <a:solidFill>
                <a:schemeClr val="bg1">
                  <a:lumMod val="75000"/>
                </a:schemeClr>
              </a:solidFill>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sp>
        <p:nvSpPr>
          <p:cNvPr id="34" name="Slide Number Placeholder 1">
            <a:extLst>
              <a:ext uri="{FF2B5EF4-FFF2-40B4-BE49-F238E27FC236}">
                <a16:creationId xmlns:a16="http://schemas.microsoft.com/office/drawing/2014/main" id="{8DB99567-77DF-1199-D2DC-12EE60140F38}"/>
              </a:ext>
            </a:extLst>
          </p:cNvPr>
          <p:cNvSpPr>
            <a:spLocks noGrp="1"/>
          </p:cNvSpPr>
          <p:nvPr>
            <p:ph type="sldNum" sz="quarter" idx="12"/>
          </p:nvPr>
        </p:nvSpPr>
        <p:spPr>
          <a:xfrm>
            <a:off x="8610600" y="6418163"/>
            <a:ext cx="2057400" cy="273844"/>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98B4145-BFB2-4019-9330-4CF191DD3EF5}" type="slidenum">
              <a:rPr kumimoji="0" lang="en-US" sz="1200" b="0" i="0" u="none" strike="noStrike" kern="1200" cap="none" spc="0" normalizeH="0" baseline="0" noProof="0">
                <a:ln>
                  <a:noFill/>
                </a:ln>
                <a:solidFill>
                  <a:prstClr val="black">
                    <a:tint val="75000"/>
                  </a:prstClr>
                </a:solidFill>
                <a:effectLst/>
                <a:uLnTx/>
                <a:uFillTx/>
                <a:latin typeface="Helvetica-Light" panose="020B0400000000000000"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tint val="75000"/>
                </a:prstClr>
              </a:solidFill>
              <a:effectLst/>
              <a:uLnTx/>
              <a:uFillTx/>
              <a:latin typeface="Helvetica-Light" panose="020B0400000000000000" pitchFamily="34" charset="0"/>
              <a:ea typeface="+mn-ea"/>
              <a:cs typeface="+mn-cs"/>
            </a:endParaRPr>
          </a:p>
        </p:txBody>
      </p:sp>
      <p:sp>
        <p:nvSpPr>
          <p:cNvPr id="91" name="Rectangle 90">
            <a:extLst>
              <a:ext uri="{FF2B5EF4-FFF2-40B4-BE49-F238E27FC236}">
                <a16:creationId xmlns:a16="http://schemas.microsoft.com/office/drawing/2014/main" id="{49BE3407-3286-836B-AD00-C4312F7AC484}"/>
              </a:ext>
            </a:extLst>
          </p:cNvPr>
          <p:cNvSpPr/>
          <p:nvPr/>
        </p:nvSpPr>
        <p:spPr>
          <a:xfrm>
            <a:off x="384051" y="20667"/>
            <a:ext cx="11073381" cy="73996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grpSp>
        <p:nvGrpSpPr>
          <p:cNvPr id="9" name="Group 8">
            <a:extLst>
              <a:ext uri="{FF2B5EF4-FFF2-40B4-BE49-F238E27FC236}">
                <a16:creationId xmlns:a16="http://schemas.microsoft.com/office/drawing/2014/main" id="{65719C2D-4440-0982-9F1F-D9BB447769E6}"/>
              </a:ext>
            </a:extLst>
          </p:cNvPr>
          <p:cNvGrpSpPr/>
          <p:nvPr/>
        </p:nvGrpSpPr>
        <p:grpSpPr>
          <a:xfrm>
            <a:off x="735280" y="153662"/>
            <a:ext cx="7439839" cy="441303"/>
            <a:chOff x="734568" y="202479"/>
            <a:chExt cx="7439839" cy="441303"/>
          </a:xfrm>
        </p:grpSpPr>
        <p:sp>
          <p:nvSpPr>
            <p:cNvPr id="93" name="Rectangle 92">
              <a:extLst>
                <a:ext uri="{FF2B5EF4-FFF2-40B4-BE49-F238E27FC236}">
                  <a16:creationId xmlns:a16="http://schemas.microsoft.com/office/drawing/2014/main" id="{F93BAD2A-2AC8-33D9-26E0-753EB82F0AB9}"/>
                </a:ext>
              </a:extLst>
            </p:cNvPr>
            <p:cNvSpPr/>
            <p:nvPr/>
          </p:nvSpPr>
          <p:spPr>
            <a:xfrm>
              <a:off x="734568" y="202479"/>
              <a:ext cx="7316001" cy="441303"/>
            </a:xfrm>
            <a:prstGeom prst="rect">
              <a:avLst/>
            </a:prstGeom>
            <a:solidFill>
              <a:schemeClr val="tx1">
                <a:lumMod val="75000"/>
                <a:lumOff val="25000"/>
              </a:schemeClr>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Helvetica-Light" panose="020B0400000000000000" pitchFamily="34" charset="0"/>
                <a:ea typeface="+mn-ea"/>
                <a:cs typeface="+mn-cs"/>
              </a:endParaRPr>
            </a:p>
          </p:txBody>
        </p:sp>
        <p:sp>
          <p:nvSpPr>
            <p:cNvPr id="94" name="Rectangle 93">
              <a:extLst>
                <a:ext uri="{FF2B5EF4-FFF2-40B4-BE49-F238E27FC236}">
                  <a16:creationId xmlns:a16="http://schemas.microsoft.com/office/drawing/2014/main" id="{7AA3A2AF-97BC-C520-1875-A840951889C4}"/>
                </a:ext>
              </a:extLst>
            </p:cNvPr>
            <p:cNvSpPr/>
            <p:nvPr/>
          </p:nvSpPr>
          <p:spPr>
            <a:xfrm>
              <a:off x="1048724" y="211667"/>
              <a:ext cx="7125683" cy="40011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225" normalizeH="0" baseline="0" noProof="0" dirty="0">
                  <a:ln>
                    <a:noFill/>
                  </a:ln>
                  <a:solidFill>
                    <a:prstClr val="white"/>
                  </a:solidFill>
                  <a:effectLst/>
                  <a:uLnTx/>
                  <a:uFillTx/>
                  <a:latin typeface="Helvetica-Light" panose="020B0400000000000000" pitchFamily="34" charset="0"/>
                  <a:ea typeface="+mn-ea"/>
                  <a:cs typeface="+mn-cs"/>
                </a:rPr>
                <a:t>Engine Failure on Takeoff with Turnback</a:t>
              </a:r>
              <a:endParaRPr kumimoji="0" lang="en-US" sz="2000" b="0" i="0" u="none" strike="noStrike" kern="1200" cap="none" spc="225" normalizeH="0" baseline="0" noProof="0" dirty="0">
                <a:ln>
                  <a:noFill/>
                </a:ln>
                <a:solidFill>
                  <a:schemeClr val="bg1"/>
                </a:solidFill>
                <a:effectLst/>
                <a:uLnTx/>
                <a:uFillTx/>
                <a:latin typeface="Helvetica-Light" panose="020B0400000000000000" pitchFamily="34" charset="0"/>
                <a:ea typeface="+mn-ea"/>
                <a:cs typeface="+mn-cs"/>
              </a:endParaRPr>
            </a:p>
          </p:txBody>
        </p:sp>
      </p:grpSp>
      <p:cxnSp>
        <p:nvCxnSpPr>
          <p:cNvPr id="95" name="Straight Connector 94">
            <a:extLst>
              <a:ext uri="{FF2B5EF4-FFF2-40B4-BE49-F238E27FC236}">
                <a16:creationId xmlns:a16="http://schemas.microsoft.com/office/drawing/2014/main" id="{8BE946C8-ECB5-1E15-479F-60C6E17B083F}"/>
              </a:ext>
            </a:extLst>
          </p:cNvPr>
          <p:cNvCxnSpPr>
            <a:cxnSpLocks/>
          </p:cNvCxnSpPr>
          <p:nvPr/>
        </p:nvCxnSpPr>
        <p:spPr>
          <a:xfrm flipV="1">
            <a:off x="8276395" y="-10413"/>
            <a:ext cx="0" cy="750374"/>
          </a:xfrm>
          <a:prstGeom prst="line">
            <a:avLst/>
          </a:prstGeom>
          <a:ln w="190500">
            <a:solidFill>
              <a:schemeClr val="bg1">
                <a:lumMod val="75000"/>
              </a:schemeClr>
            </a:solidFill>
          </a:ln>
          <a:effectLst>
            <a:outerShdw blurRad="228600" dist="38100" algn="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57FEB0F-CF61-5EA3-6548-A7B6C2564E19}"/>
              </a:ext>
            </a:extLst>
          </p:cNvPr>
          <p:cNvSpPr txBox="1"/>
          <p:nvPr/>
        </p:nvSpPr>
        <p:spPr>
          <a:xfrm rot="19608800">
            <a:off x="5194629" y="3312881"/>
            <a:ext cx="805029" cy="2308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Climb Angle</a:t>
            </a:r>
          </a:p>
        </p:txBody>
      </p:sp>
      <p:sp>
        <p:nvSpPr>
          <p:cNvPr id="10" name="TextBox 9">
            <a:extLst>
              <a:ext uri="{FF2B5EF4-FFF2-40B4-BE49-F238E27FC236}">
                <a16:creationId xmlns:a16="http://schemas.microsoft.com/office/drawing/2014/main" id="{9F6253DE-E3F0-D45B-1C47-D5B7BB47DF11}"/>
              </a:ext>
            </a:extLst>
          </p:cNvPr>
          <p:cNvSpPr txBox="1"/>
          <p:nvPr/>
        </p:nvSpPr>
        <p:spPr>
          <a:xfrm>
            <a:off x="8610600" y="207721"/>
            <a:ext cx="2667782" cy="307777"/>
          </a:xfrm>
          <a:prstGeom prst="rect">
            <a:avLst/>
          </a:prstGeom>
          <a:noFill/>
        </p:spPr>
        <p:txBody>
          <a:bodyPr wrap="none" rtlCol="0">
            <a:spAutoFit/>
          </a:bodyPr>
          <a:lstStyle/>
          <a:p>
            <a:r>
              <a:rPr lang="en-US" sz="1400" b="1" dirty="0">
                <a:solidFill>
                  <a:schemeClr val="bg1"/>
                </a:solidFill>
              </a:rPr>
              <a:t>Final Turn to Align with Runway </a:t>
            </a:r>
          </a:p>
        </p:txBody>
      </p:sp>
      <p:sp>
        <p:nvSpPr>
          <p:cNvPr id="2" name="TextBox 1">
            <a:extLst>
              <a:ext uri="{FF2B5EF4-FFF2-40B4-BE49-F238E27FC236}">
                <a16:creationId xmlns:a16="http://schemas.microsoft.com/office/drawing/2014/main" id="{CD7789D5-9E73-DAB9-C322-49F26380A3B4}"/>
              </a:ext>
            </a:extLst>
          </p:cNvPr>
          <p:cNvSpPr txBox="1"/>
          <p:nvPr/>
        </p:nvSpPr>
        <p:spPr>
          <a:xfrm>
            <a:off x="292029" y="785391"/>
            <a:ext cx="11540306" cy="954107"/>
          </a:xfrm>
          <a:prstGeom prst="rect">
            <a:avLst/>
          </a:prstGeom>
          <a:noFill/>
        </p:spPr>
        <p:txBody>
          <a:bodyPr wrap="square" rtlCol="0">
            <a:spAutoFit/>
          </a:bodyPr>
          <a:lstStyle/>
          <a:p>
            <a:r>
              <a:rPr lang="en-US" sz="1400" dirty="0"/>
              <a:t>1. </a:t>
            </a:r>
            <a:r>
              <a:rPr lang="en-US" sz="1400" dirty="0">
                <a:solidFill>
                  <a:srgbClr val="000000"/>
                </a:solidFill>
                <a:effectLst/>
                <a:ea typeface="Aptos" panose="020B0004020202020204" pitchFamily="34" charset="0"/>
                <a:cs typeface="Times New Roman" panose="02020603050405020304" pitchFamily="18" charset="0"/>
              </a:rPr>
              <a:t>A final important consideration is the wind condition on takeoff.  A strong headwind will keep the aircraft closer to the end of the runway during climb due to the slower ground speed.  This effectively increases the climb angle which is a beneficial effect.  In the event of quartering or direct crosswinds, you should note that turning into the wind will shorten the radius of a turnback while an initial turn downwind will widen the </a:t>
            </a:r>
            <a:r>
              <a:rPr lang="en-US" sz="1400" dirty="0">
                <a:solidFill>
                  <a:srgbClr val="000000"/>
                </a:solidFill>
                <a:ea typeface="Aptos" panose="020B0004020202020204" pitchFamily="34" charset="0"/>
                <a:cs typeface="Times New Roman" panose="02020603050405020304" pitchFamily="18" charset="0"/>
              </a:rPr>
              <a:t>radius and </a:t>
            </a:r>
            <a:r>
              <a:rPr lang="en-US" sz="1400" dirty="0">
                <a:solidFill>
                  <a:srgbClr val="000000"/>
                </a:solidFill>
                <a:effectLst/>
                <a:ea typeface="Aptos" panose="020B0004020202020204" pitchFamily="34" charset="0"/>
                <a:cs typeface="Times New Roman" panose="02020603050405020304" pitchFamily="18" charset="0"/>
              </a:rPr>
              <a:t>increase the distance that has to be flown.  A turnback may be achievable into a crosswind but not possible if the turn is initiated downwind.  </a:t>
            </a:r>
            <a:endParaRPr lang="en-US" sz="1400" dirty="0"/>
          </a:p>
        </p:txBody>
      </p:sp>
      <p:sp>
        <p:nvSpPr>
          <p:cNvPr id="3" name="TextBox 2">
            <a:extLst>
              <a:ext uri="{FF2B5EF4-FFF2-40B4-BE49-F238E27FC236}">
                <a16:creationId xmlns:a16="http://schemas.microsoft.com/office/drawing/2014/main" id="{21D57810-5A54-A532-92A4-AAA555E5A128}"/>
              </a:ext>
            </a:extLst>
          </p:cNvPr>
          <p:cNvSpPr txBox="1"/>
          <p:nvPr/>
        </p:nvSpPr>
        <p:spPr>
          <a:xfrm>
            <a:off x="48970" y="6491036"/>
            <a:ext cx="5052024" cy="307777"/>
          </a:xfrm>
          <a:prstGeom prst="rect">
            <a:avLst/>
          </a:prstGeom>
          <a:noFill/>
        </p:spPr>
        <p:txBody>
          <a:bodyPr wrap="none" rtlCol="0">
            <a:spAutoFit/>
          </a:bodyPr>
          <a:lstStyle/>
          <a:p>
            <a:r>
              <a:rPr lang="en-US" sz="1400" dirty="0"/>
              <a:t>Note – Narration text in black, </a:t>
            </a:r>
            <a:r>
              <a:rPr lang="en-US" sz="1400" dirty="0">
                <a:solidFill>
                  <a:srgbClr val="0070C0"/>
                </a:solidFill>
              </a:rPr>
              <a:t>video animation descriptions in blue</a:t>
            </a:r>
          </a:p>
        </p:txBody>
      </p:sp>
      <p:cxnSp>
        <p:nvCxnSpPr>
          <p:cNvPr id="17" name="Connector: Curved 16">
            <a:extLst>
              <a:ext uri="{FF2B5EF4-FFF2-40B4-BE49-F238E27FC236}">
                <a16:creationId xmlns:a16="http://schemas.microsoft.com/office/drawing/2014/main" id="{DD2BAE80-6E92-D3F8-3116-27C4C21FD1D8}"/>
              </a:ext>
            </a:extLst>
          </p:cNvPr>
          <p:cNvCxnSpPr>
            <a:cxnSpLocks/>
          </p:cNvCxnSpPr>
          <p:nvPr/>
        </p:nvCxnSpPr>
        <p:spPr>
          <a:xfrm>
            <a:off x="3224371" y="3074602"/>
            <a:ext cx="1312915" cy="694689"/>
          </a:xfrm>
          <a:prstGeom prst="curvedConnector3">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F46A9F8-7C99-01F0-2EE4-D658054B65F8}"/>
              </a:ext>
            </a:extLst>
          </p:cNvPr>
          <p:cNvSpPr txBox="1"/>
          <p:nvPr/>
        </p:nvSpPr>
        <p:spPr>
          <a:xfrm>
            <a:off x="135134" y="2234601"/>
            <a:ext cx="3708053" cy="461665"/>
          </a:xfrm>
          <a:prstGeom prst="rect">
            <a:avLst/>
          </a:prstGeom>
          <a:noFill/>
        </p:spPr>
        <p:txBody>
          <a:bodyPr wrap="square" rtlCol="0">
            <a:spAutoFit/>
          </a:bodyPr>
          <a:lstStyle/>
          <a:p>
            <a:r>
              <a:rPr lang="en-US" sz="1200" dirty="0">
                <a:solidFill>
                  <a:srgbClr val="0070C0"/>
                </a:solidFill>
              </a:rPr>
              <a:t>During the narration zoom from the view on the left to the view on the right.</a:t>
            </a:r>
          </a:p>
        </p:txBody>
      </p:sp>
      <p:pic>
        <p:nvPicPr>
          <p:cNvPr id="4" name="Picture 3">
            <a:extLst>
              <a:ext uri="{FF2B5EF4-FFF2-40B4-BE49-F238E27FC236}">
                <a16:creationId xmlns:a16="http://schemas.microsoft.com/office/drawing/2014/main" id="{90741D46-8FD2-4C51-0072-5D0DE21C8BAE}"/>
              </a:ext>
            </a:extLst>
          </p:cNvPr>
          <p:cNvPicPr>
            <a:picLocks noChangeAspect="1"/>
          </p:cNvPicPr>
          <p:nvPr/>
        </p:nvPicPr>
        <p:blipFill>
          <a:blip r:embed="rId3"/>
          <a:stretch>
            <a:fillRect/>
          </a:stretch>
        </p:blipFill>
        <p:spPr>
          <a:xfrm>
            <a:off x="8897778" y="2415664"/>
            <a:ext cx="1895523" cy="2907949"/>
          </a:xfrm>
          <a:prstGeom prst="rect">
            <a:avLst/>
          </a:prstGeom>
        </p:spPr>
      </p:pic>
      <p:sp>
        <p:nvSpPr>
          <p:cNvPr id="11" name="Oval 10">
            <a:extLst>
              <a:ext uri="{FF2B5EF4-FFF2-40B4-BE49-F238E27FC236}">
                <a16:creationId xmlns:a16="http://schemas.microsoft.com/office/drawing/2014/main" id="{694BE7A3-2803-410A-77A8-A916ACA43864}"/>
              </a:ext>
            </a:extLst>
          </p:cNvPr>
          <p:cNvSpPr/>
          <p:nvPr/>
        </p:nvSpPr>
        <p:spPr>
          <a:xfrm>
            <a:off x="5286082" y="2234600"/>
            <a:ext cx="1835242" cy="765807"/>
          </a:xfrm>
          <a:prstGeom prst="ellipse">
            <a:avLst/>
          </a:prstGeom>
          <a:noFill/>
          <a:ln w="412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1373A080-5741-F06D-5C0C-416645EF2CA6}"/>
              </a:ext>
            </a:extLst>
          </p:cNvPr>
          <p:cNvSpPr txBox="1"/>
          <p:nvPr/>
        </p:nvSpPr>
        <p:spPr>
          <a:xfrm>
            <a:off x="8799229" y="3122037"/>
            <a:ext cx="1145262" cy="2308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Headwind Turn</a:t>
            </a:r>
          </a:p>
        </p:txBody>
      </p:sp>
      <p:cxnSp>
        <p:nvCxnSpPr>
          <p:cNvPr id="6" name="Straight Arrow Connector 5">
            <a:extLst>
              <a:ext uri="{FF2B5EF4-FFF2-40B4-BE49-F238E27FC236}">
                <a16:creationId xmlns:a16="http://schemas.microsoft.com/office/drawing/2014/main" id="{57E51BDD-B4F0-AE95-ED8F-1AB53393979A}"/>
              </a:ext>
            </a:extLst>
          </p:cNvPr>
          <p:cNvCxnSpPr/>
          <p:nvPr/>
        </p:nvCxnSpPr>
        <p:spPr>
          <a:xfrm>
            <a:off x="8222150" y="2268751"/>
            <a:ext cx="1058169" cy="606873"/>
          </a:xfrm>
          <a:prstGeom prst="straightConnector1">
            <a:avLst/>
          </a:prstGeom>
          <a:ln w="25400">
            <a:tailEnd type="triangle" w="lg" len="med"/>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9C5FA68E-C32F-0C6B-33D7-D31ABF16CEB4}"/>
              </a:ext>
            </a:extLst>
          </p:cNvPr>
          <p:cNvPicPr>
            <a:picLocks noChangeAspect="1"/>
          </p:cNvPicPr>
          <p:nvPr/>
        </p:nvPicPr>
        <p:blipFill>
          <a:blip r:embed="rId3"/>
          <a:srcRect l="17810" r="42905"/>
          <a:stretch/>
        </p:blipFill>
        <p:spPr>
          <a:xfrm flipH="1">
            <a:off x="10000400" y="2414297"/>
            <a:ext cx="1640109" cy="3046647"/>
          </a:xfrm>
          <a:prstGeom prst="rect">
            <a:avLst/>
          </a:prstGeom>
        </p:spPr>
      </p:pic>
      <p:sp>
        <p:nvSpPr>
          <p:cNvPr id="15" name="TextBox 14">
            <a:extLst>
              <a:ext uri="{FF2B5EF4-FFF2-40B4-BE49-F238E27FC236}">
                <a16:creationId xmlns:a16="http://schemas.microsoft.com/office/drawing/2014/main" id="{88786F9D-084D-E825-B056-E5D51ECC12EF}"/>
              </a:ext>
            </a:extLst>
          </p:cNvPr>
          <p:cNvSpPr txBox="1"/>
          <p:nvPr/>
        </p:nvSpPr>
        <p:spPr>
          <a:xfrm>
            <a:off x="8477547" y="2319261"/>
            <a:ext cx="1145262" cy="2308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Wind direction</a:t>
            </a:r>
          </a:p>
        </p:txBody>
      </p:sp>
      <p:sp>
        <p:nvSpPr>
          <p:cNvPr id="16" name="TextBox 15">
            <a:extLst>
              <a:ext uri="{FF2B5EF4-FFF2-40B4-BE49-F238E27FC236}">
                <a16:creationId xmlns:a16="http://schemas.microsoft.com/office/drawing/2014/main" id="{A31C68B7-20F1-C256-07BE-29411FADC5BB}"/>
              </a:ext>
            </a:extLst>
          </p:cNvPr>
          <p:cNvSpPr txBox="1"/>
          <p:nvPr/>
        </p:nvSpPr>
        <p:spPr>
          <a:xfrm>
            <a:off x="10328166" y="2946876"/>
            <a:ext cx="1145262" cy="230832"/>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black"/>
                </a:solidFill>
                <a:effectLst/>
                <a:uLnTx/>
                <a:uFillTx/>
                <a:latin typeface="Helvetica" pitchFamily="2" charset="0"/>
                <a:ea typeface="+mn-ea"/>
                <a:cs typeface="+mn-cs"/>
              </a:rPr>
              <a:t>Downwind turn</a:t>
            </a:r>
          </a:p>
        </p:txBody>
      </p:sp>
    </p:spTree>
    <p:extLst>
      <p:ext uri="{BB962C8B-B14F-4D97-AF65-F5344CB8AC3E}">
        <p14:creationId xmlns:p14="http://schemas.microsoft.com/office/powerpoint/2010/main" val="997155009"/>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3665</TotalTime>
  <Words>6123</Words>
  <Application>Microsoft Office PowerPoint</Application>
  <PresentationFormat>Widescreen</PresentationFormat>
  <Paragraphs>498</Paragraphs>
  <Slides>10</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Aptos</vt:lpstr>
      <vt:lpstr>Arial</vt:lpstr>
      <vt:lpstr>Calibri</vt:lpstr>
      <vt:lpstr>Calibri Light</vt:lpstr>
      <vt:lpstr>Courier New</vt:lpstr>
      <vt:lpstr>Helvetica</vt:lpstr>
      <vt:lpstr>Helvetica-Light</vt:lpstr>
      <vt:lpstr>Symbol</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Charlie Precourt</dc:creator>
  <cp:lastModifiedBy>Charlie Precourt</cp:lastModifiedBy>
  <cp:revision>3</cp:revision>
  <cp:lastPrinted>2022-09-06T23:30:59Z</cp:lastPrinted>
  <dcterms:created xsi:type="dcterms:W3CDTF">2022-09-06T23:14:00Z</dcterms:created>
  <dcterms:modified xsi:type="dcterms:W3CDTF">2025-02-13T01:18:54Z</dcterms:modified>
</cp:coreProperties>
</file>